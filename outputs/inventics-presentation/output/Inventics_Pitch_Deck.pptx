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 w="12700">
            <a:solidFill>
              <a:srgbClr val="0E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549640" y="-365760"/>
            <a:ext cx="4206240" cy="7772400"/>
          </a:xfrm>
          <a:prstGeom prst="rect">
            <a:avLst/>
          </a:prstGeom>
          <a:solidFill>
            <a:srgbClr val="0A8F88">
              <a:alpha val="24000"/>
            </a:srgbClr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594360"/>
            <a:ext cx="2194560" cy="2194560"/>
          </a:xfrm>
          <a:prstGeom prst="ellipse">
            <a:avLst/>
          </a:prstGeom>
          <a:solidFill>
            <a:srgbClr val="0E1B2E">
              <a:alpha val="0"/>
            </a:srgbClr>
          </a:solidFill>
          <a:ln w="28575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143000"/>
            <a:ext cx="1097280" cy="1097280"/>
          </a:xfrm>
          <a:prstGeom prst="ellipse">
            <a:avLst/>
          </a:prstGeom>
          <a:solidFill>
            <a:srgbClr val="68E2D3">
              <a:alpha val="92000"/>
            </a:srgbClr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2240280"/>
            <a:ext cx="1371600" cy="1051560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325880"/>
            <a:ext cx="-777240" cy="2057400"/>
          </a:xfrm>
          <a:prstGeom prst="line">
            <a:avLst/>
          </a:prstGeom>
          <a:noFill/>
          <a:ln w="19050">
            <a:solidFill>
              <a:srgbClr val="FF8A6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71632" y="3218688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7498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 impact social și tehnologic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Inventics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59536" y="215798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Mănușă inteligentă care transformă gesturile în text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8680" y="3108960"/>
            <a:ext cx="1280160" cy="0"/>
          </a:xfrm>
          <a:prstGeom prst="line">
            <a:avLst/>
          </a:prstGeom>
          <a:noFill/>
          <a:ln w="31750">
            <a:solidFill>
              <a:srgbClr val="68E2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502152"/>
            <a:ext cx="91440" cy="91440"/>
          </a:xfrm>
          <a:prstGeom prst="ellipse">
            <a:avLst/>
          </a:prstGeom>
          <a:solidFill>
            <a:srgbClr val="68E2D3"/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42900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 România există un număr semnificativ de persoane cu deficiențe de auz.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4050792"/>
            <a:ext cx="91440" cy="91440"/>
          </a:xfrm>
          <a:prstGeom prst="ellipse">
            <a:avLst/>
          </a:prstGeom>
          <a:solidFill>
            <a:srgbClr val="68E2D3"/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97764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Comunicarea cu restul societății este adesea limitată.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4892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Soluția: un dispozitiv portabil care transformă limbajul semnelor în text.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915400" y="1051560"/>
            <a:ext cx="2240280" cy="2240280"/>
          </a:xfrm>
          <a:prstGeom prst="ellipse">
            <a:avLst/>
          </a:prstGeom>
          <a:solidFill>
            <a:srgbClr val="0E1B2E">
              <a:alpha val="0"/>
            </a:srgbClr>
          </a:solidFill>
          <a:ln w="22225">
            <a:solidFill>
              <a:srgbClr val="68E2D3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0656" y="1956816"/>
            <a:ext cx="438912" cy="438912"/>
          </a:xfrm>
          <a:prstGeom prst="ellipse">
            <a:avLst/>
          </a:prstGeom>
          <a:solidFill>
            <a:srgbClr val="68E2D3"/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08208" y="2834640"/>
            <a:ext cx="329184" cy="329184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67544" y="2340864"/>
            <a:ext cx="987552" cy="658368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03536" y="2304288"/>
            <a:ext cx="-822960" cy="1536192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53728" y="3749040"/>
            <a:ext cx="1417320" cy="749808"/>
          </a:xfrm>
          <a:prstGeom prst="line">
            <a:avLst/>
          </a:prstGeom>
          <a:noFill/>
          <a:ln w="19050">
            <a:solidFill>
              <a:srgbClr val="FF8A65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31552" y="629107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">
            <a:off x="9464040" y="-320040"/>
            <a:ext cx="3840480" cy="2926080"/>
          </a:xfrm>
          <a:prstGeom prst="rect">
            <a:avLst/>
          </a:prstGeom>
          <a:solidFill>
            <a:srgbClr val="DFF8F0">
              <a:alpha val="94000"/>
            </a:srgbClr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91072"/>
            <a:ext cx="1046988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C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 se vede cel mai clar ruptura de comunicare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86600" y="1207008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DFF8F0"/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252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5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școli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83880" y="120700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DEAFE"/>
          </a:solidFill>
          <a:ln w="12700">
            <a:solidFill>
              <a:srgbClr val="DD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2527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spitale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0" y="120700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E4DA"/>
          </a:solidFill>
          <a:ln w="12700">
            <a:solidFill>
              <a:srgbClr val="FFE4D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2527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14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instituții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3774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Dependență de interpret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" y="3154680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D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Izolare socială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9536" y="40690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Fără un instrument direct, accesul la informație și la servicii depinde de prezența unui intermediar.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1965960"/>
            <a:ext cx="2148840" cy="2148840"/>
          </a:xfrm>
          <a:prstGeom prst="ellipse">
            <a:avLst/>
          </a:prstGeom>
          <a:solidFill>
            <a:srgbClr val="DFF8F0"/>
          </a:solidFill>
          <a:ln w="22225">
            <a:solidFill>
              <a:srgbClr val="12B8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2670048"/>
            <a:ext cx="1078992" cy="228600"/>
          </a:xfrm>
          <a:prstGeom prst="line">
            <a:avLst/>
          </a:prstGeom>
          <a:noFill/>
          <a:ln w="31750">
            <a:solidFill>
              <a:srgbClr val="12B8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47504" y="2761488"/>
            <a:ext cx="1143000" cy="384048"/>
          </a:xfrm>
          <a:prstGeom prst="line">
            <a:avLst/>
          </a:prstGeom>
          <a:noFill/>
          <a:ln w="31750">
            <a:solidFill>
              <a:srgbClr val="FF8A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1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comunicare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531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fragmentată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52160" y="2395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mediator uman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149840" y="3035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utilizator final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 w="12700">
            <a:solidFill>
              <a:srgbClr val="0E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549640" y="-365760"/>
            <a:ext cx="4206240" cy="7772400"/>
          </a:xfrm>
          <a:prstGeom prst="rect">
            <a:avLst/>
          </a:prstGeom>
          <a:solidFill>
            <a:srgbClr val="0A8F88">
              <a:alpha val="24000"/>
            </a:srgbClr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594360"/>
            <a:ext cx="2194560" cy="2194560"/>
          </a:xfrm>
          <a:prstGeom prst="ellipse">
            <a:avLst/>
          </a:prstGeom>
          <a:solidFill>
            <a:srgbClr val="0E1B2E">
              <a:alpha val="0"/>
            </a:srgbClr>
          </a:solidFill>
          <a:ln w="28575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143000"/>
            <a:ext cx="1097280" cy="1097280"/>
          </a:xfrm>
          <a:prstGeom prst="ellipse">
            <a:avLst/>
          </a:prstGeom>
          <a:solidFill>
            <a:srgbClr val="68E2D3">
              <a:alpha val="92000"/>
            </a:srgbClr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2240280"/>
            <a:ext cx="1371600" cy="1051560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325880"/>
            <a:ext cx="-777240" cy="2057400"/>
          </a:xfrm>
          <a:prstGeom prst="line">
            <a:avLst/>
          </a:prstGeom>
          <a:noFill/>
          <a:ln w="19050">
            <a:solidFill>
              <a:srgbClr val="FF8A6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71632" y="3218688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Validare internațională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3716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Abu Dhabi International Invention Exhibition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1248" y="23957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Rezultat internațional care confirmă relevanța soluției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22592" y="1280160"/>
            <a:ext cx="2788920" cy="2788920"/>
          </a:xfrm>
          <a:prstGeom prst="ellipse">
            <a:avLst/>
          </a:prstGeom>
          <a:solidFill>
            <a:srgbClr val="FFE6A8"/>
          </a:solidFill>
          <a:ln w="38100">
            <a:solidFill>
              <a:srgbClr val="F3B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874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A5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#1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36092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Locul 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388620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183954"/>
          </a:solidFill>
          <a:ln w="12700">
            <a:solidFill>
              <a:srgbClr val="18395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931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inovația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76272" y="388620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14968F"/>
          </a:solidFill>
          <a:ln w="12700">
            <a:solidFill>
              <a:srgbClr val="14968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393192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utilitatea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10712" y="38862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46D43"/>
          </a:solidFill>
          <a:ln w="12700">
            <a:solidFill>
              <a:srgbClr val="C46D4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3931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potențialul global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" y="464515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Premiul arată că produsul are valoare practică și poate scala dincolo de contextul local.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">
            <a:off x="9464040" y="-320040"/>
            <a:ext cx="3840480" cy="2926080"/>
          </a:xfrm>
          <a:prstGeom prst="rect">
            <a:avLst/>
          </a:prstGeom>
          <a:solidFill>
            <a:srgbClr val="DFF8F0">
              <a:alpha val="94000"/>
            </a:srgbClr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91072"/>
            <a:ext cx="1046988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C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Soluții existente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1901952"/>
            <a:ext cx="91440" cy="91440"/>
          </a:xfrm>
          <a:prstGeom prst="ellipse">
            <a:avLst/>
          </a:prstGeom>
          <a:solidFill>
            <a:srgbClr val="12B8AE"/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E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aplicații AI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8680" y="2450592"/>
            <a:ext cx="91440" cy="91440"/>
          </a:xfrm>
          <a:prstGeom prst="ellipse">
            <a:avLst/>
          </a:prstGeom>
          <a:solidFill>
            <a:srgbClr val="12B8AE"/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377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E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sisteme video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053328" y="1463040"/>
            <a:ext cx="0" cy="3840480"/>
          </a:xfrm>
          <a:prstGeom prst="line">
            <a:avLst/>
          </a:prstGeom>
          <a:noFill/>
          <a:ln w="15875">
            <a:solidFill>
              <a:srgbClr val="D8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 ale alternativelor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65392" y="1901952"/>
            <a:ext cx="91440" cy="91440"/>
          </a:xfrm>
          <a:prstGeom prst="ellipse">
            <a:avLst/>
          </a:prstGeom>
          <a:solidFill>
            <a:srgbClr val="12B8AE"/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1828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E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sensibile la lumină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565392" y="2496312"/>
            <a:ext cx="91440" cy="91440"/>
          </a:xfrm>
          <a:prstGeom prst="ellipse">
            <a:avLst/>
          </a:prstGeom>
          <a:solidFill>
            <a:srgbClr val="12B8AE"/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24231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E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costuri mari: 2000-3000 lei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565392" y="3456432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5314D"/>
          </a:solidFill>
          <a:ln w="12700">
            <a:solidFill>
              <a:srgbClr val="15314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60273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2000-3000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675120" y="3968496"/>
            <a:ext cx="1975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 frecvent de cost (lei)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709160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 urmărește o abordare mai robustă și mai accesibilă, fără dependență de condițiile de filmare.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 w="12700">
            <a:solidFill>
              <a:srgbClr val="0E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549640" y="-365760"/>
            <a:ext cx="4206240" cy="7772400"/>
          </a:xfrm>
          <a:prstGeom prst="rect">
            <a:avLst/>
          </a:prstGeom>
          <a:solidFill>
            <a:srgbClr val="0A8F88">
              <a:alpha val="24000"/>
            </a:srgbClr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594360"/>
            <a:ext cx="2194560" cy="2194560"/>
          </a:xfrm>
          <a:prstGeom prst="ellipse">
            <a:avLst/>
          </a:prstGeom>
          <a:solidFill>
            <a:srgbClr val="0E1B2E">
              <a:alpha val="0"/>
            </a:srgbClr>
          </a:solidFill>
          <a:ln w="28575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143000"/>
            <a:ext cx="1097280" cy="1097280"/>
          </a:xfrm>
          <a:prstGeom prst="ellipse">
            <a:avLst/>
          </a:prstGeom>
          <a:solidFill>
            <a:srgbClr val="68E2D3">
              <a:alpha val="92000"/>
            </a:srgbClr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2240280"/>
            <a:ext cx="1371600" cy="1051560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325880"/>
            <a:ext cx="-777240" cy="2057400"/>
          </a:xfrm>
          <a:prstGeom prst="line">
            <a:avLst/>
          </a:prstGeom>
          <a:noFill/>
          <a:ln w="19050">
            <a:solidFill>
              <a:srgbClr val="FF8A6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71632" y="3218688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Produsul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1463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Mănușă inteligentă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Transformă gesturile în text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31546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83954"/>
          </a:solidFill>
          <a:ln w="12700">
            <a:solidFill>
              <a:srgbClr val="18395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004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fără cameră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315468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4968F"/>
          </a:solidFill>
          <a:ln w="12700">
            <a:solidFill>
              <a:srgbClr val="14968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32004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315468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C46D43"/>
          </a:solidFill>
          <a:ln w="12700">
            <a:solidFill>
              <a:srgbClr val="C46D4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32004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1554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Acuratețe estimată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42048" y="190195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278624" y="318211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Conceptul central: un lanț simplu, purtabil și intuitiv care convertește gestul într-un mesaj lizibil.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">
            <a:off x="9464040" y="-320040"/>
            <a:ext cx="3840480" cy="2926080"/>
          </a:xfrm>
          <a:prstGeom prst="rect">
            <a:avLst/>
          </a:prstGeom>
          <a:solidFill>
            <a:srgbClr val="DFF8F0">
              <a:alpha val="94000"/>
            </a:srgbClr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91072"/>
            <a:ext cx="1046988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Cum funcționează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C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8F0"/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272491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6B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90088" y="2670048"/>
            <a:ext cx="438912" cy="420624"/>
          </a:xfrm>
          <a:prstGeom prst="chevron">
            <a:avLst/>
          </a:prstGeom>
          <a:solidFill>
            <a:srgbClr val="12B8AE">
              <a:alpha val="88000"/>
            </a:srgbClr>
          </a:solidFill>
          <a:ln w="12700">
            <a:solidFill>
              <a:srgbClr val="D8E3E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2377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DEAFE"/>
          </a:solidFill>
          <a:ln w="12700">
            <a:solidFill>
              <a:srgbClr val="DD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41064" y="272491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Senzori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16168" y="2670048"/>
            <a:ext cx="438912" cy="420624"/>
          </a:xfrm>
          <a:prstGeom prst="chevron">
            <a:avLst/>
          </a:prstGeom>
          <a:solidFill>
            <a:srgbClr val="12B8AE">
              <a:alpha val="88000"/>
            </a:srgbClr>
          </a:solidFill>
          <a:ln w="12700">
            <a:solidFill>
              <a:srgbClr val="D8E3E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377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E4DA"/>
          </a:solidFill>
          <a:ln w="12700">
            <a:solidFill>
              <a:srgbClr val="FFE4D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67144" y="272491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4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Procesare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42248" y="2670048"/>
            <a:ext cx="438912" cy="420624"/>
          </a:xfrm>
          <a:prstGeom prst="chevron">
            <a:avLst/>
          </a:prstGeom>
          <a:solidFill>
            <a:srgbClr val="12B8AE">
              <a:alpha val="88000"/>
            </a:srgbClr>
          </a:solidFill>
          <a:ln w="12700">
            <a:solidFill>
              <a:srgbClr val="D8E3E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6920" y="2377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0C5"/>
          </a:solidFill>
          <a:ln w="12700">
            <a:solidFill>
              <a:srgbClr val="FFF0C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93224" y="272491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5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afișat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4206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Fluxul este gândit pentru răspuns rapid: mișcarea este captată, interpretată și afișată aproape instant.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 w="12700">
            <a:solidFill>
              <a:srgbClr val="0E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549640" y="-365760"/>
            <a:ext cx="4206240" cy="7772400"/>
          </a:xfrm>
          <a:prstGeom prst="rect">
            <a:avLst/>
          </a:prstGeom>
          <a:solidFill>
            <a:srgbClr val="0A8F88">
              <a:alpha val="24000"/>
            </a:srgbClr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594360"/>
            <a:ext cx="2194560" cy="2194560"/>
          </a:xfrm>
          <a:prstGeom prst="ellipse">
            <a:avLst/>
          </a:prstGeom>
          <a:solidFill>
            <a:srgbClr val="0E1B2E">
              <a:alpha val="0"/>
            </a:srgbClr>
          </a:solidFill>
          <a:ln w="28575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143000"/>
            <a:ext cx="1097280" cy="1097280"/>
          </a:xfrm>
          <a:prstGeom prst="ellipse">
            <a:avLst/>
          </a:prstGeom>
          <a:solidFill>
            <a:srgbClr val="68E2D3">
              <a:alpha val="92000"/>
            </a:srgbClr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2240280"/>
            <a:ext cx="1371600" cy="1051560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325880"/>
            <a:ext cx="-777240" cy="2057400"/>
          </a:xfrm>
          <a:prstGeom prst="line">
            <a:avLst/>
          </a:prstGeom>
          <a:noFill/>
          <a:ln w="19050">
            <a:solidFill>
              <a:srgbClr val="FF8A6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71632" y="3218688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Avantaje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298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produs util în contexte reale, nu doar într-un demo controlat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1945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83954"/>
          </a:solidFill>
          <a:ln w="12700">
            <a:solidFill>
              <a:srgbClr val="18395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414016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 depinde de cameră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520440" y="425196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4968F"/>
          </a:solidFill>
          <a:ln w="12700">
            <a:solidFill>
              <a:srgbClr val="14968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4471416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Portabil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66560" y="1920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C46D43"/>
          </a:solidFill>
          <a:ln w="12700">
            <a:solidFill>
              <a:srgbClr val="C46D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2139696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Stabil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503920" y="3749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3B83A"/>
          </a:solidFill>
          <a:ln w="12700">
            <a:solidFill>
              <a:srgbClr val="F3B83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3648" y="3968496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4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Ușor de folosit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257800" y="2697480"/>
            <a:ext cx="1508760" cy="1508760"/>
          </a:xfrm>
          <a:prstGeom prst="ellipse">
            <a:avLst/>
          </a:prstGeom>
          <a:solidFill>
            <a:srgbClr val="68E2D3">
              <a:alpha val="12000"/>
            </a:srgbClr>
          </a:solidFill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31272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 multă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 w="12700">
            <a:solidFill>
              <a:srgbClr val="0E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549640" y="-365760"/>
            <a:ext cx="4206240" cy="7772400"/>
          </a:xfrm>
          <a:prstGeom prst="rect">
            <a:avLst/>
          </a:prstGeom>
          <a:solidFill>
            <a:srgbClr val="0A8F88">
              <a:alpha val="24000"/>
            </a:srgbClr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594360"/>
            <a:ext cx="2194560" cy="2194560"/>
          </a:xfrm>
          <a:prstGeom prst="ellipse">
            <a:avLst/>
          </a:prstGeom>
          <a:solidFill>
            <a:srgbClr val="0E1B2E">
              <a:alpha val="0"/>
            </a:srgbClr>
          </a:solidFill>
          <a:ln w="28575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143000"/>
            <a:ext cx="1097280" cy="1097280"/>
          </a:xfrm>
          <a:prstGeom prst="ellipse">
            <a:avLst/>
          </a:prstGeom>
          <a:solidFill>
            <a:srgbClr val="68E2D3">
              <a:alpha val="92000"/>
            </a:srgbClr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2240280"/>
            <a:ext cx="1371600" cy="1051560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325880"/>
            <a:ext cx="-777240" cy="2057400"/>
          </a:xfrm>
          <a:prstGeom prst="line">
            <a:avLst/>
          </a:prstGeom>
          <a:noFill/>
          <a:ln w="19050">
            <a:solidFill>
              <a:srgbClr val="FF8A6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71632" y="3218688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Concurența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5727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BrightSign Glove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77824" y="21762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Referință utilă, dar greu de adoptat la scară largă în contexte educaționale.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7824" y="327355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4198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2500 lei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87552" y="3785616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preț estimat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48272" y="2176272"/>
            <a:ext cx="91440" cy="91440"/>
          </a:xfrm>
          <a:prstGeom prst="ellipse">
            <a:avLst/>
          </a:prstGeom>
          <a:solidFill>
            <a:srgbClr val="68E2D3"/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21031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ridicat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748272" y="2862072"/>
            <a:ext cx="91440" cy="91440"/>
          </a:xfrm>
          <a:prstGeom prst="ellipse">
            <a:avLst/>
          </a:prstGeom>
          <a:solidFill>
            <a:srgbClr val="68E2D3"/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27889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dependență de cameră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748272" y="367588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Provocarea nu este doar tehnologia, ci adoptarea ei în medii unde bugetul și simplitatea contează.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">
            <a:off x="9464040" y="-320040"/>
            <a:ext cx="3840480" cy="2926080"/>
          </a:xfrm>
          <a:prstGeom prst="rect">
            <a:avLst/>
          </a:prstGeom>
          <a:solidFill>
            <a:srgbClr val="DFF8F0">
              <a:alpha val="94000"/>
            </a:srgbClr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91072"/>
            <a:ext cx="1046988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Avantaj competitiv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C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2984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 25% mai mic și mai accesibil pentru școli.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" y="2057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65960" y="1993392"/>
            <a:ext cx="2983230" cy="475488"/>
          </a:xfrm>
          <a:prstGeom prst="roundRect">
            <a:avLst>
              <a:gd name="adj" fmla="val 15385"/>
            </a:avLst>
          </a:prstGeom>
          <a:solidFill>
            <a:srgbClr val="12B8AE"/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8062" y="20482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1875 lei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" y="302666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BrightSign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2962656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15314D"/>
          </a:solidFill>
          <a:ln w="12700">
            <a:solidFill>
              <a:srgbClr val="1531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30175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2500 lei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12280" y="18745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15314D"/>
          </a:solidFill>
          <a:ln w="12700">
            <a:solidFill>
              <a:srgbClr val="1531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8" y="202082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1100 lei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22008" y="2386584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producție / unitate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18745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12B8AE"/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0848" y="202082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775 lei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70848" y="2386584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brut / unitate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32004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 accesibil, mai ușor de implementat în școli, cu marjă suficientă pentru dezvoltare.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 w="12700">
            <a:solidFill>
              <a:srgbClr val="0E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549640" y="-365760"/>
            <a:ext cx="4206240" cy="7772400"/>
          </a:xfrm>
          <a:prstGeom prst="rect">
            <a:avLst/>
          </a:prstGeom>
          <a:solidFill>
            <a:srgbClr val="0A8F88">
              <a:alpha val="24000"/>
            </a:srgbClr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594360"/>
            <a:ext cx="2194560" cy="2194560"/>
          </a:xfrm>
          <a:prstGeom prst="ellipse">
            <a:avLst/>
          </a:prstGeom>
          <a:solidFill>
            <a:srgbClr val="0E1B2E">
              <a:alpha val="0"/>
            </a:srgbClr>
          </a:solidFill>
          <a:ln w="28575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143000"/>
            <a:ext cx="1097280" cy="1097280"/>
          </a:xfrm>
          <a:prstGeom prst="ellipse">
            <a:avLst/>
          </a:prstGeom>
          <a:solidFill>
            <a:srgbClr val="68E2D3">
              <a:alpha val="92000"/>
            </a:srgbClr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2240280"/>
            <a:ext cx="1371600" cy="1051560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325880"/>
            <a:ext cx="-777240" cy="2057400"/>
          </a:xfrm>
          <a:prstGeom prst="line">
            <a:avLst/>
          </a:prstGeom>
          <a:noFill/>
          <a:ln w="19050">
            <a:solidFill>
              <a:srgbClr val="FF8A6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71632" y="3218688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Piața țintă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 îi aduce valoare imediată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788920"/>
            <a:ext cx="2560320" cy="713232"/>
          </a:xfrm>
          <a:prstGeom prst="roundRect">
            <a:avLst>
              <a:gd name="adj" fmla="val 10256"/>
            </a:avLst>
          </a:prstGeom>
          <a:solidFill>
            <a:srgbClr val="183954"/>
          </a:solidFill>
          <a:ln w="12700">
            <a:solidFill>
              <a:srgbClr val="18395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53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Persoane cu deficiențe de auz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94760" y="196596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14968F"/>
          </a:solidFill>
          <a:ln w="12700">
            <a:solidFill>
              <a:srgbClr val="14968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1305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Elevi și studenți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86200" y="402336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C46D43"/>
          </a:solidFill>
          <a:ln w="12700">
            <a:solidFill>
              <a:srgbClr val="C46D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41879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Școli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46520" y="214884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F3B83A"/>
          </a:solidFill>
          <a:ln w="12700">
            <a:solidFill>
              <a:srgbClr val="F3B83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3134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4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ONG-uri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49640" y="29260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183954"/>
          </a:solidFill>
          <a:ln w="12700">
            <a:solidFill>
              <a:srgbClr val="18395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3090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Instituții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93008" y="3163824"/>
            <a:ext cx="530352" cy="-731520"/>
          </a:xfrm>
          <a:prstGeom prst="line">
            <a:avLst/>
          </a:prstGeom>
          <a:noFill/>
          <a:ln w="19050">
            <a:solidFill>
              <a:srgbClr val="68E2D3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3008" y="3163824"/>
            <a:ext cx="566928" cy="1170432"/>
          </a:xfrm>
          <a:prstGeom prst="line">
            <a:avLst/>
          </a:prstGeom>
          <a:noFill/>
          <a:ln w="19050">
            <a:solidFill>
              <a:srgbClr val="68E2D3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33872" y="2322576"/>
            <a:ext cx="713232" cy="182880"/>
          </a:xfrm>
          <a:prstGeom prst="line">
            <a:avLst/>
          </a:prstGeom>
          <a:noFill/>
          <a:ln w="19050">
            <a:solidFill>
              <a:srgbClr val="68E2D3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82128" y="2487168"/>
            <a:ext cx="658368" cy="777240"/>
          </a:xfrm>
          <a:prstGeom prst="line">
            <a:avLst/>
          </a:prstGeom>
          <a:noFill/>
          <a:ln w="19050">
            <a:solidFill>
              <a:srgbClr val="FF8A65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">
            <a:off x="9464040" y="-320040"/>
            <a:ext cx="3840480" cy="2926080"/>
          </a:xfrm>
          <a:prstGeom prst="rect">
            <a:avLst/>
          </a:prstGeom>
          <a:solidFill>
            <a:srgbClr val="DFF8F0">
              <a:alpha val="94000"/>
            </a:srgbClr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91072"/>
            <a:ext cx="1046988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marketing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C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10912" y="2148840"/>
            <a:ext cx="1965960" cy="1965960"/>
          </a:xfrm>
          <a:prstGeom prst="ellipse">
            <a:avLst/>
          </a:prstGeom>
          <a:solidFill>
            <a:srgbClr val="DFF8F0"/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3248" y="274320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6B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rețea 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6B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parteneri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20116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DFF8F0"/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057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asociații persoanelor cu deficiențe de auz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71232" y="201168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DDEAFE"/>
          </a:solidFill>
          <a:ln w="12700">
            <a:solidFill>
              <a:srgbClr val="DDEAF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universități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4553712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E4DA"/>
          </a:solidFill>
          <a:ln w="12700">
            <a:solidFill>
              <a:srgbClr val="FFE4D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45994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4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aeroporturi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12848"/>
            <a:ext cx="667512" cy="868680"/>
          </a:xfrm>
          <a:prstGeom prst="line">
            <a:avLst/>
          </a:prstGeom>
          <a:noFill/>
          <a:ln w="19050">
            <a:solidFill>
              <a:srgbClr val="12B8AE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3072384"/>
            <a:ext cx="594360" cy="-841248"/>
          </a:xfrm>
          <a:prstGeom prst="line">
            <a:avLst/>
          </a:prstGeom>
          <a:noFill/>
          <a:ln w="19050">
            <a:solidFill>
              <a:srgbClr val="15314D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0176" y="4114800"/>
            <a:ext cx="-54864" cy="484632"/>
          </a:xfrm>
          <a:prstGeom prst="line">
            <a:avLst/>
          </a:prstGeom>
          <a:noFill/>
          <a:ln w="19050">
            <a:solidFill>
              <a:srgbClr val="FF8A65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194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31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Activități principale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523036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83954"/>
          </a:solidFill>
          <a:ln w="12700">
            <a:solidFill>
              <a:srgbClr val="18395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2760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workshop-uri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23160" y="523036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4968F"/>
          </a:solidFill>
          <a:ln w="12700">
            <a:solidFill>
              <a:srgbClr val="14968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52760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demonstrații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5230368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C46D43"/>
          </a:solidFill>
          <a:ln w="12700">
            <a:solidFill>
              <a:srgbClr val="C46D4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52760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evenimente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 w="12700">
            <a:solidFill>
              <a:srgbClr val="0E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549640" y="-365760"/>
            <a:ext cx="4206240" cy="7772400"/>
          </a:xfrm>
          <a:prstGeom prst="rect">
            <a:avLst/>
          </a:prstGeom>
          <a:solidFill>
            <a:srgbClr val="0A8F88">
              <a:alpha val="24000"/>
            </a:srgbClr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594360"/>
            <a:ext cx="2194560" cy="2194560"/>
          </a:xfrm>
          <a:prstGeom prst="ellipse">
            <a:avLst/>
          </a:prstGeom>
          <a:solidFill>
            <a:srgbClr val="0E1B2E">
              <a:alpha val="0"/>
            </a:srgbClr>
          </a:solidFill>
          <a:ln w="28575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143000"/>
            <a:ext cx="1097280" cy="1097280"/>
          </a:xfrm>
          <a:prstGeom prst="ellipse">
            <a:avLst/>
          </a:prstGeom>
          <a:solidFill>
            <a:srgbClr val="68E2D3">
              <a:alpha val="92000"/>
            </a:srgbClr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2240280"/>
            <a:ext cx="1371600" cy="1051560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325880"/>
            <a:ext cx="-777240" cy="2057400"/>
          </a:xfrm>
          <a:prstGeom prst="line">
            <a:avLst/>
          </a:prstGeom>
          <a:noFill/>
          <a:ln w="19050">
            <a:solidFill>
              <a:srgbClr val="FF8A6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71632" y="3218688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Promovare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 proprii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18288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83954"/>
          </a:solidFill>
          <a:ln w="12700">
            <a:solidFill>
              <a:srgbClr val="18395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8745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239572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4968F"/>
          </a:solidFill>
          <a:ln w="12700">
            <a:solidFill>
              <a:srgbClr val="14968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4414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2962656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C46D43"/>
          </a:solidFill>
          <a:ln w="12700">
            <a:solidFill>
              <a:srgbClr val="C46D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083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Prezentări live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9088" y="14173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Concursuri internaționale vizate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182880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0A8F88"/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97510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ISEF (SUA)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2487168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A65833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6334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iENA (Germania)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3145536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A17314"/>
          </a:solidFill>
          <a:ln w="12700">
            <a:solidFill>
              <a:srgbClr val="F3B83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9184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3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WICO (Indonezia)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">
            <a:off x="9464040" y="-320040"/>
            <a:ext cx="3840480" cy="2926080"/>
          </a:xfrm>
          <a:prstGeom prst="rect">
            <a:avLst/>
          </a:prstGeom>
          <a:solidFill>
            <a:srgbClr val="DFF8F0">
              <a:alpha val="94000"/>
            </a:srgbClr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91072"/>
            <a:ext cx="1046988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Producție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C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estimat / unitate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874520"/>
            <a:ext cx="1645920" cy="594360"/>
          </a:xfrm>
          <a:prstGeom prst="rect">
            <a:avLst/>
          </a:prstGeom>
          <a:solidFill>
            <a:srgbClr val="12B8AE"/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874520"/>
            <a:ext cx="1234440" cy="594360"/>
          </a:xfrm>
          <a:prstGeom prst="rect">
            <a:avLst/>
          </a:prstGeom>
          <a:solidFill>
            <a:srgbClr val="15314D"/>
          </a:solidFill>
          <a:ln w="12700">
            <a:solidFill>
              <a:srgbClr val="15314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874520"/>
            <a:ext cx="822960" cy="59436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874520"/>
            <a:ext cx="822960" cy="594360"/>
          </a:xfrm>
          <a:prstGeom prst="rect">
            <a:avLst/>
          </a:prstGeom>
          <a:solidFill>
            <a:srgbClr val="F3B83A"/>
          </a:solidFill>
          <a:ln w="12700">
            <a:solidFill>
              <a:srgbClr val="F3B83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2788920"/>
            <a:ext cx="3246120" cy="438912"/>
          </a:xfrm>
          <a:prstGeom prst="roundRect">
            <a:avLst>
              <a:gd name="adj" fmla="val 16667"/>
            </a:avLst>
          </a:prstGeom>
          <a:solidFill>
            <a:srgbClr val="12B8AE"/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92608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Senzori   400 lei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7824" y="3447288"/>
            <a:ext cx="3246120" cy="438912"/>
          </a:xfrm>
          <a:prstGeom prst="roundRect">
            <a:avLst>
              <a:gd name="adj" fmla="val 16667"/>
            </a:avLst>
          </a:prstGeom>
          <a:solidFill>
            <a:srgbClr val="15314D"/>
          </a:solidFill>
          <a:ln w="12700">
            <a:solidFill>
              <a:srgbClr val="1531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58444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PCB + componente   300 lei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77824" y="4105656"/>
            <a:ext cx="3246120" cy="438912"/>
          </a:xfrm>
          <a:prstGeom prst="roundRect">
            <a:avLst>
              <a:gd name="adj" fmla="val 16667"/>
            </a:avLst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24281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Carcasă 3D   200 lei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7824" y="4764024"/>
            <a:ext cx="3246120" cy="438912"/>
          </a:xfrm>
          <a:prstGeom prst="roundRect">
            <a:avLst>
              <a:gd name="adj" fmla="val 16667"/>
            </a:avLst>
          </a:prstGeom>
          <a:solidFill>
            <a:srgbClr val="F3B83A"/>
          </a:solidFill>
          <a:ln w="12700">
            <a:solidFill>
              <a:srgbClr val="F3B83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9011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4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 costuri   200 lei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52360" y="2395728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15314D"/>
          </a:solidFill>
          <a:ln w="12700">
            <a:solidFill>
              <a:srgbClr val="15314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54203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1100 lei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562088" y="2907792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estimat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720" y="3657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 de cost susține un produs care poate fi produs, testat și îmbunătățit fără a ieși dintr-un prag realist.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 w="12700">
            <a:solidFill>
              <a:srgbClr val="0E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549640" y="-365760"/>
            <a:ext cx="4206240" cy="7772400"/>
          </a:xfrm>
          <a:prstGeom prst="rect">
            <a:avLst/>
          </a:prstGeom>
          <a:solidFill>
            <a:srgbClr val="0A8F88">
              <a:alpha val="24000"/>
            </a:srgbClr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594360"/>
            <a:ext cx="2194560" cy="2194560"/>
          </a:xfrm>
          <a:prstGeom prst="ellipse">
            <a:avLst/>
          </a:prstGeom>
          <a:solidFill>
            <a:srgbClr val="0E1B2E">
              <a:alpha val="0"/>
            </a:srgbClr>
          </a:solidFill>
          <a:ln w="28575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143000"/>
            <a:ext cx="1097280" cy="1097280"/>
          </a:xfrm>
          <a:prstGeom prst="ellipse">
            <a:avLst/>
          </a:prstGeom>
          <a:solidFill>
            <a:srgbClr val="68E2D3">
              <a:alpha val="92000"/>
            </a:srgbClr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2240280"/>
            <a:ext cx="1371600" cy="1051560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325880"/>
            <a:ext cx="-777240" cy="2057400"/>
          </a:xfrm>
          <a:prstGeom prst="line">
            <a:avLst/>
          </a:prstGeom>
          <a:noFill/>
          <a:ln w="19050">
            <a:solidFill>
              <a:srgbClr val="FF8A6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71632" y="3218688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Echipa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280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Echipă multidisciplinară pentru produs, prototipare și lansare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1938528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14968F"/>
          </a:solidFill>
          <a:ln w="12700">
            <a:solidFill>
              <a:srgbClr val="14968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21031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Coordonator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74520" y="2880360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183954"/>
          </a:solidFill>
          <a:ln w="12700">
            <a:solidFill>
              <a:srgbClr val="18395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30449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86200" y="4315968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C46D43"/>
          </a:solidFill>
          <a:ln w="12700">
            <a:solidFill>
              <a:srgbClr val="C46D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9352" y="4480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4407408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3B83A"/>
          </a:solidFill>
          <a:ln w="12700">
            <a:solidFill>
              <a:srgbClr val="F3B83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45720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4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49640" y="2852928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183954"/>
          </a:solidFill>
          <a:ln w="12700">
            <a:solidFill>
              <a:srgbClr val="18395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22792" y="3017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9320" y="2560320"/>
            <a:ext cx="-2743200" cy="658368"/>
          </a:xfrm>
          <a:prstGeom prst="line">
            <a:avLst/>
          </a:prstGeom>
          <a:noFill/>
          <a:ln w="19050">
            <a:solidFill>
              <a:srgbClr val="68E2D3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2560320"/>
            <a:ext cx="-777240" cy="1828800"/>
          </a:xfrm>
          <a:prstGeom prst="line">
            <a:avLst/>
          </a:prstGeom>
          <a:noFill/>
          <a:ln w="19050">
            <a:solidFill>
              <a:srgbClr val="FF8A65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2560320"/>
            <a:ext cx="1417320" cy="1810512"/>
          </a:xfrm>
          <a:prstGeom prst="line">
            <a:avLst/>
          </a:prstGeom>
          <a:noFill/>
          <a:ln w="19050">
            <a:solidFill>
              <a:srgbClr val="68E2D3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2560320"/>
            <a:ext cx="3401568" cy="731520"/>
          </a:xfrm>
          <a:prstGeom prst="line">
            <a:avLst/>
          </a:prstGeom>
          <a:noFill/>
          <a:ln w="19050">
            <a:solidFill>
              <a:srgbClr val="FF8A65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">
            <a:off x="9464040" y="-320040"/>
            <a:ext cx="3840480" cy="2926080"/>
          </a:xfrm>
          <a:prstGeom prst="rect">
            <a:avLst/>
          </a:prstGeom>
          <a:solidFill>
            <a:srgbClr val="DFF8F0">
              <a:alpha val="94000"/>
            </a:srgbClr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91072"/>
            <a:ext cx="1046988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C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9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DFF8F0"/>
          </a:solidFill>
          <a:ln w="12700">
            <a:solidFill>
              <a:srgbClr val="DFF8F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33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6B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Crește incluziunea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42232" y="201168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DDEAFE"/>
          </a:solidFill>
          <a:ln w="12700">
            <a:solidFill>
              <a:srgbClr val="DDEA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2633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Reduce discriminarea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15784" y="201168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E4DA"/>
          </a:solidFill>
          <a:ln w="12700">
            <a:solidFill>
              <a:srgbClr val="FFE4D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98664" y="2633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4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Ajută educația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 w="12700">
            <a:solidFill>
              <a:srgbClr val="0E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549640" y="-365760"/>
            <a:ext cx="4206240" cy="7772400"/>
          </a:xfrm>
          <a:prstGeom prst="rect">
            <a:avLst/>
          </a:prstGeom>
          <a:solidFill>
            <a:srgbClr val="0A8F88">
              <a:alpha val="24000"/>
            </a:srgbClr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594360"/>
            <a:ext cx="2194560" cy="2194560"/>
          </a:xfrm>
          <a:prstGeom prst="ellipse">
            <a:avLst/>
          </a:prstGeom>
          <a:solidFill>
            <a:srgbClr val="0E1B2E">
              <a:alpha val="0"/>
            </a:srgbClr>
          </a:solidFill>
          <a:ln w="28575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143000"/>
            <a:ext cx="1097280" cy="1097280"/>
          </a:xfrm>
          <a:prstGeom prst="ellipse">
            <a:avLst/>
          </a:prstGeom>
          <a:solidFill>
            <a:srgbClr val="68E2D3">
              <a:alpha val="92000"/>
            </a:srgbClr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2240280"/>
            <a:ext cx="1371600" cy="1051560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325880"/>
            <a:ext cx="-777240" cy="2057400"/>
          </a:xfrm>
          <a:prstGeom prst="line">
            <a:avLst/>
          </a:prstGeom>
          <a:noFill/>
          <a:ln w="19050">
            <a:solidFill>
              <a:srgbClr val="FF8A6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71632" y="3218688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Viitor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045952" y="6291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49840" y="6035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7280" y="4937760"/>
            <a:ext cx="9098280" cy="-2560320"/>
          </a:xfrm>
          <a:prstGeom prst="line">
            <a:avLst/>
          </a:prstGeom>
          <a:noFill/>
          <a:ln w="31750">
            <a:solidFill>
              <a:srgbClr val="68E2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4617720"/>
            <a:ext cx="310896" cy="310896"/>
          </a:xfrm>
          <a:prstGeom prst="ellipse">
            <a:avLst/>
          </a:prstGeom>
          <a:solidFill>
            <a:srgbClr val="68E2D3"/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79476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183954"/>
          </a:solidFill>
          <a:ln w="12700">
            <a:solidFill>
              <a:srgbClr val="18395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977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Reducere cost sub 1500 lei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3730752"/>
            <a:ext cx="310896" cy="310896"/>
          </a:xfrm>
          <a:prstGeom prst="ellipse">
            <a:avLst/>
          </a:prstGeom>
          <a:solidFill>
            <a:srgbClr val="68E2D3"/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2907792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14968F"/>
          </a:solidFill>
          <a:ln w="12700">
            <a:solidFill>
              <a:srgbClr val="14968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30906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Creștere acuratețe peste 95%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9560" y="2852928"/>
            <a:ext cx="310896" cy="310896"/>
          </a:xfrm>
          <a:prstGeom prst="ellipse">
            <a:avLst/>
          </a:prstGeom>
          <a:solidFill>
            <a:srgbClr val="68E2D3"/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2029968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C46D43"/>
          </a:solidFill>
          <a:ln w="12700">
            <a:solidFill>
              <a:srgbClr val="C46D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5512" y="22128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Lansare internațională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 w="12700">
            <a:solidFill>
              <a:srgbClr val="0E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549640" y="-365760"/>
            <a:ext cx="4206240" cy="7772400"/>
          </a:xfrm>
          <a:prstGeom prst="rect">
            <a:avLst/>
          </a:prstGeom>
          <a:solidFill>
            <a:srgbClr val="0A8F88">
              <a:alpha val="24000"/>
            </a:srgbClr>
          </a:solidFill>
          <a:ln w="12700">
            <a:solidFill>
              <a:srgbClr val="12B8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594360"/>
            <a:ext cx="2194560" cy="2194560"/>
          </a:xfrm>
          <a:prstGeom prst="ellipse">
            <a:avLst/>
          </a:prstGeom>
          <a:solidFill>
            <a:srgbClr val="0E1B2E">
              <a:alpha val="0"/>
            </a:srgbClr>
          </a:solidFill>
          <a:ln w="28575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143000"/>
            <a:ext cx="1097280" cy="1097280"/>
          </a:xfrm>
          <a:prstGeom prst="ellipse">
            <a:avLst/>
          </a:prstGeom>
          <a:solidFill>
            <a:srgbClr val="68E2D3">
              <a:alpha val="92000"/>
            </a:srgbClr>
          </a:solidFill>
          <a:ln w="12700">
            <a:solidFill>
              <a:srgbClr val="68E2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2240280"/>
            <a:ext cx="1371600" cy="1051560"/>
          </a:xfrm>
          <a:prstGeom prst="line">
            <a:avLst/>
          </a:prstGeom>
          <a:noFill/>
          <a:ln w="25400">
            <a:solidFill>
              <a:srgbClr val="68E2D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325880"/>
            <a:ext cx="-777240" cy="2057400"/>
          </a:xfrm>
          <a:prstGeom prst="line">
            <a:avLst/>
          </a:prstGeom>
          <a:noFill/>
          <a:ln w="19050">
            <a:solidFill>
              <a:srgbClr val="FF8A6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71632" y="3218688"/>
            <a:ext cx="256032" cy="25603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14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DF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Comunicarea devine accesibilă.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2688" y="3154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C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gest transformat în cuvânt.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41832" y="3858768"/>
            <a:ext cx="1417320" cy="0"/>
          </a:xfrm>
          <a:prstGeom prst="line">
            <a:avLst/>
          </a:prstGeom>
          <a:noFill/>
          <a:ln w="31750">
            <a:solidFill>
              <a:srgbClr val="68E2D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Inventics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Inventics Pitch Deck</dc:title>
  <dc:subject>Inventics pitch deck</dc:subject>
  <dc:creator>OpenAI Codex</dc:creator>
  <cp:lastModifiedBy>OpenAI Codex</cp:lastModifiedBy>
  <cp:revision>1</cp:revision>
  <dcterms:created xsi:type="dcterms:W3CDTF">2026-05-05T20:54:59Z</dcterms:created>
  <dcterms:modified xsi:type="dcterms:W3CDTF">2026-05-05T20:54:59Z</dcterms:modified>
</cp:coreProperties>
</file>