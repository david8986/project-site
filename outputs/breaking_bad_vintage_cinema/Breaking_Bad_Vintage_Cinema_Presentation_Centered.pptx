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eaking_Bad_gas_mask_red_gr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467127"/>
            <a:ext cx="12191695" cy="1779225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72768" y="256032"/>
            <a:ext cx="9043416" cy="6291072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46888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8249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2374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4436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499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8561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748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811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8873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2998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5060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7123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9185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3310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5372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7435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9497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72768" y="6245352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8249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0312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2374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4436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6499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8561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0624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4748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6811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8873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72998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5060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57123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9185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1248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83310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25372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67435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9497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591056" y="274320"/>
            <a:ext cx="9006840" cy="6254496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85832" y="601675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3BE88"/>
                </a:solidFill>
                <a:latin typeface="Aptos"/>
              </a:rPr>
              <a:t>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73471" y="1060704"/>
            <a:ext cx="713232" cy="713232"/>
          </a:xfrm>
          <a:prstGeom prst="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19191" y="1106424"/>
            <a:ext cx="201168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50" b="0">
                <a:solidFill>
                  <a:srgbClr val="D3BE88"/>
                </a:solidFill>
                <a:latin typeface="Aptos"/>
              </a:rPr>
              <a:t>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73471" y="1225296"/>
            <a:ext cx="713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EDEB1"/>
                </a:solidFill>
                <a:latin typeface="Georgia"/>
              </a:rPr>
              <a:t>Br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6159" y="1060704"/>
            <a:ext cx="713232" cy="713232"/>
          </a:xfrm>
          <a:prstGeom prst="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1879" y="1106424"/>
            <a:ext cx="201168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50" b="0">
                <a:solidFill>
                  <a:srgbClr val="D3BE88"/>
                </a:solidFill>
                <a:latin typeface="Aptos"/>
              </a:rPr>
              <a:t>56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6159" y="1225296"/>
            <a:ext cx="713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EDEB1"/>
                </a:solidFill>
                <a:latin typeface="Georgia"/>
              </a:rPr>
              <a:t>Ba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99335" y="1901952"/>
            <a:ext cx="8193024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EEDEB1"/>
                </a:solidFill>
                <a:latin typeface="Georgia"/>
              </a:rPr>
              <a:t>BREAKING BAD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99335" y="2779776"/>
            <a:ext cx="8193024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C69637"/>
                </a:solidFill>
                <a:latin typeface="Aptos"/>
              </a:rPr>
              <a:t>The chemistry of consequence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04007" y="3401568"/>
            <a:ext cx="6583680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EEDEB1"/>
                </a:solidFill>
                <a:latin typeface="Aptos"/>
              </a:rPr>
              <a:t>A vintage cinema presentation about the series that turned one desperate choice into an empire.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07027" y="5230368"/>
            <a:ext cx="1143000" cy="329184"/>
          </a:xfrm>
          <a:prstGeom prst="round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1891" y="5298948"/>
            <a:ext cx="103327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EDEB1"/>
                </a:solidFill>
                <a:latin typeface="Aptos"/>
              </a:rPr>
              <a:t>2008-2013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18607" y="5230368"/>
            <a:ext cx="1554480" cy="329184"/>
          </a:xfrm>
          <a:prstGeom prst="round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73471" y="5298948"/>
            <a:ext cx="144475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EDEB1"/>
                </a:solidFill>
                <a:latin typeface="Aptos"/>
              </a:rPr>
              <a:t>VINCE GILLIGAN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941667" y="5230368"/>
            <a:ext cx="1325880" cy="329184"/>
          </a:xfrm>
          <a:prstGeom prst="round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96531" y="5298948"/>
            <a:ext cx="121615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EDEB1"/>
                </a:solidFill>
                <a:latin typeface="Aptos"/>
              </a:rPr>
              <a:t>ALBUQUERQUE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0B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leyFest_2010_Breaking_Bad_creator_Vince_Gilligan_RJ_Mitte_Walt_Jr_Aaron_Paul_J_red_gr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44405" y="0"/>
            <a:ext cx="1848050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72768" y="256032"/>
            <a:ext cx="9043416" cy="6291072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46888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8249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2374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4436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499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8561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748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811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8873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2998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5060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7123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9185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3310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5372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7435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9497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72768" y="6245352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8249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0312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2374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4436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6499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8561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0624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4748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6811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8873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72998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5060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57123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9185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1248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83310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25372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67435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9497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591056" y="274320"/>
            <a:ext cx="9006840" cy="6254496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85832" y="601675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3BE88"/>
                </a:solidFill>
                <a:latin typeface="Aptos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84167" y="530352"/>
            <a:ext cx="4023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69637"/>
                </a:solidFill>
                <a:latin typeface="Aptos"/>
              </a:rPr>
              <a:t>SERIES PROFILE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99335" y="822960"/>
            <a:ext cx="819302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EEDEB1"/>
                </a:solidFill>
                <a:latin typeface="Georgia"/>
              </a:rPr>
              <a:t>What It 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49727" y="1673352"/>
            <a:ext cx="6492240" cy="2331720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197199" y="2066544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98367" y="1947672"/>
            <a:ext cx="559612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EDEB1"/>
                </a:solidFill>
                <a:latin typeface="Aptos"/>
              </a:rPr>
              <a:t>American crime drama and contemporary western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97199" y="2450592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98367" y="2331720"/>
            <a:ext cx="559612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EDEB1"/>
                </a:solidFill>
                <a:latin typeface="Aptos"/>
              </a:rPr>
              <a:t>Created by Vince Gilligan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197199" y="2834640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98367" y="2715768"/>
            <a:ext cx="559612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EDEB1"/>
                </a:solidFill>
                <a:latin typeface="Aptos"/>
              </a:rPr>
              <a:t>Set in Albuquerque, New Mexico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97199" y="3218688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98367" y="3099816"/>
            <a:ext cx="559612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EDEB1"/>
                </a:solidFill>
                <a:latin typeface="Aptos"/>
              </a:rPr>
              <a:t>Five seasons, originally aired from 2008 to 2013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97199" y="3602736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98367" y="3483864"/>
            <a:ext cx="559612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EDEB1"/>
                </a:solidFill>
                <a:latin typeface="Aptos"/>
              </a:rPr>
              <a:t>A chemistry teacher turns survival panic into criminal identity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46807" y="4645152"/>
            <a:ext cx="7498079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C69637"/>
                </a:solidFill>
                <a:latin typeface="Georgia"/>
              </a:rPr>
              <a:t>TV written like a tragedy: every clever solution raises the cost of the next scene.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SGS_desert_grassland_nm_red_gr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6426"/>
            <a:ext cx="12191695" cy="80908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72768" y="256032"/>
            <a:ext cx="9043416" cy="6291072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46888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8249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2374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4436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499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8561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748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811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8873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2998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5060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7123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9185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3310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5372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7435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9497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72768" y="6245352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8249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0312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2374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4436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6499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8561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0624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4748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6811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8873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72998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5060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57123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9185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1248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83310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25372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67435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9497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591056" y="274320"/>
            <a:ext cx="9006840" cy="6254496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85832" y="601675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3BE88"/>
                </a:solidFill>
                <a:latin typeface="Aptos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84167" y="530352"/>
            <a:ext cx="4023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69637"/>
                </a:solidFill>
                <a:latin typeface="Aptos"/>
              </a:rPr>
              <a:t>PLOT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841248"/>
            <a:ext cx="8622792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3500" b="1">
                <a:solidFill>
                  <a:srgbClr val="EEDEB1"/>
                </a:solidFill>
                <a:latin typeface="Georgia"/>
              </a:rPr>
              <a:t>Desperate Plan, Criminal Persona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69667" y="1591056"/>
            <a:ext cx="7452360" cy="1965960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35427" y="1874519"/>
            <a:ext cx="672084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900" b="0">
                <a:solidFill>
                  <a:srgbClr val="EEDEB1"/>
                </a:solidFill>
                <a:latin typeface="Aptos"/>
              </a:rPr>
              <a:t>Walter White, a brilliant but underpaid chemistry teacher, receives a terminal diagnosis and enters the drug trade with former student Jesse Pinkman. What begins as a way to leave money for his family turns into a story about pride, control, and moral collapse.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21127" y="3977639"/>
            <a:ext cx="1051560" cy="329184"/>
          </a:xfrm>
          <a:prstGeom prst="roundRect">
            <a:avLst/>
          </a:prstGeom>
          <a:solidFill>
            <a:srgbClr val="12523A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75991" y="4046219"/>
            <a:ext cx="94183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EDEB1"/>
                </a:solidFill>
                <a:latin typeface="Aptos"/>
              </a:rPr>
              <a:t>SURVIVAL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73655" y="4416552"/>
            <a:ext cx="17373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D3BE88"/>
                </a:solidFill>
                <a:latin typeface="Aptos"/>
              </a:rPr>
              <a:t>Cancer, fear, and the promise of quick money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52847" y="3977639"/>
            <a:ext cx="1051560" cy="329184"/>
          </a:xfrm>
          <a:prstGeom prst="roundRect">
            <a:avLst/>
          </a:prstGeom>
          <a:solidFill>
            <a:srgbClr val="12523A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07711" y="4046219"/>
            <a:ext cx="94183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EDEB1"/>
                </a:solidFill>
                <a:latin typeface="Aptos"/>
              </a:rPr>
              <a:t>AMBITION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05375" y="4416552"/>
            <a:ext cx="17373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D3BE88"/>
                </a:solidFill>
                <a:latin typeface="Aptos"/>
              </a:rPr>
              <a:t>Skill becomes leverage, then appetite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84567" y="3977639"/>
            <a:ext cx="1051560" cy="329184"/>
          </a:xfrm>
          <a:prstGeom prst="roundRect">
            <a:avLst/>
          </a:prstGeom>
          <a:solidFill>
            <a:srgbClr val="12523A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39431" y="4046219"/>
            <a:ext cx="94183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EDEB1"/>
                </a:solidFill>
                <a:latin typeface="Aptos"/>
              </a:rPr>
              <a:t>EMPIRE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37095" y="4416552"/>
            <a:ext cx="17373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D3BE88"/>
                </a:solidFill>
                <a:latin typeface="Aptos"/>
              </a:rPr>
              <a:t>Every victory isolates Walter further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42535" y="5251582"/>
            <a:ext cx="2706624" cy="476219"/>
          </a:xfrm>
          <a:prstGeom prst="roundRect">
            <a:avLst/>
          </a:prstGeom>
          <a:solidFill>
            <a:srgbClr val="D3BE8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20641" y="5115519"/>
            <a:ext cx="730788" cy="249448"/>
          </a:xfrm>
          <a:prstGeom prst="rect">
            <a:avLst/>
          </a:prstGeom>
          <a:solidFill>
            <a:srgbClr val="D3BE8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959064" y="5364967"/>
            <a:ext cx="433059" cy="181416"/>
          </a:xfrm>
          <a:prstGeom prst="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27455" y="5364967"/>
            <a:ext cx="433059" cy="181416"/>
          </a:xfrm>
          <a:prstGeom prst="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64238" y="5251582"/>
            <a:ext cx="324794" cy="192755"/>
          </a:xfrm>
          <a:prstGeom prst="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337992" y="5682447"/>
            <a:ext cx="378927" cy="158739"/>
          </a:xfrm>
          <a:prstGeom prst="roundRect">
            <a:avLst/>
          </a:prstGeom>
          <a:solidFill>
            <a:srgbClr val="0D0A0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446257" y="5727801"/>
            <a:ext cx="162397" cy="68031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772503" y="5682447"/>
            <a:ext cx="378927" cy="158739"/>
          </a:xfrm>
          <a:prstGeom prst="roundRect">
            <a:avLst/>
          </a:prstGeom>
          <a:solidFill>
            <a:srgbClr val="0D0A0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880767" y="5727801"/>
            <a:ext cx="162397" cy="68031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72768" y="256032"/>
            <a:ext cx="9043416" cy="6291072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72768" y="246888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8249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312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2374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4436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6499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8561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2686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748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6811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873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998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5060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7123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9185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3310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5372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7435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9497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72768" y="6245352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8249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0312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2374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4436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6499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8561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0624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2686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4748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6811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8873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2998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5060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7123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9185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3310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5372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7435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09497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591056" y="274320"/>
            <a:ext cx="9006840" cy="6254496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85832" y="601675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3BE88"/>
                </a:solidFill>
                <a:latin typeface="Aptos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84167" y="530352"/>
            <a:ext cx="4023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69637"/>
                </a:solidFill>
                <a:latin typeface="Aptos"/>
              </a:rPr>
              <a:t>CHARACTERS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99335" y="822960"/>
            <a:ext cx="819302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900" b="1">
                <a:solidFill>
                  <a:srgbClr val="EEDEB1"/>
                </a:solidFill>
                <a:latin typeface="Georgia"/>
              </a:rPr>
              <a:t>The People Inside the Machine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17623" y="1572768"/>
            <a:ext cx="2487168" cy="4407408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182215" y="1755648"/>
            <a:ext cx="2157984" cy="2121408"/>
          </a:xfrm>
          <a:prstGeom prst="rect">
            <a:avLst/>
          </a:prstGeom>
          <a:solidFill>
            <a:srgbClr val="0D0A0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Bryan_Cranston_PaleyFest_2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253" y="1783080"/>
            <a:ext cx="1549907" cy="206654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182215" y="4160520"/>
            <a:ext cx="21579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EEDEB1"/>
                </a:solidFill>
                <a:latin typeface="Georgia"/>
              </a:rPr>
              <a:t>Walter White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46223" y="4590288"/>
            <a:ext cx="2029968" cy="6949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20" b="0">
                <a:solidFill>
                  <a:srgbClr val="D3BE88"/>
                </a:solidFill>
                <a:latin typeface="Aptos"/>
              </a:rPr>
              <a:t>Pride disguised as responsibility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852263" y="1572768"/>
            <a:ext cx="2487168" cy="4407408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16855" y="1755648"/>
            <a:ext cx="2157984" cy="2121408"/>
          </a:xfrm>
          <a:prstGeom prst="rect">
            <a:avLst/>
          </a:prstGeom>
          <a:solidFill>
            <a:srgbClr val="0D0A0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Aaron_Paul_at_the_68th_Annual_Peabody_Awards_for_Breaking_B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431" y="1783080"/>
            <a:ext cx="1374831" cy="2066543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016855" y="4160520"/>
            <a:ext cx="21579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EEDEB1"/>
                </a:solidFill>
                <a:latin typeface="Georgia"/>
              </a:rPr>
              <a:t>Jesse Pinkman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80863" y="4590288"/>
            <a:ext cx="2029968" cy="6949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20" b="0">
                <a:solidFill>
                  <a:srgbClr val="D3BE88"/>
                </a:solidFill>
                <a:latin typeface="Aptos"/>
              </a:rPr>
              <a:t>Conscience caught in the blast radius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686903" y="1572768"/>
            <a:ext cx="2487168" cy="4407408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851495" y="1755648"/>
            <a:ext cx="2157984" cy="2121408"/>
          </a:xfrm>
          <a:prstGeom prst="rect">
            <a:avLst/>
          </a:prstGeom>
          <a:solidFill>
            <a:srgbClr val="0D0A0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53831" y="2057400"/>
            <a:ext cx="713232" cy="713232"/>
          </a:xfrm>
          <a:prstGeom prst="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99551" y="2103120"/>
            <a:ext cx="201168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50" b="0">
                <a:solidFill>
                  <a:srgbClr val="D3BE88"/>
                </a:solidFill>
                <a:latin typeface="Aptos"/>
              </a:rPr>
              <a:t>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53831" y="2221992"/>
            <a:ext cx="713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EDEB1"/>
                </a:solidFill>
                <a:latin typeface="Georgia"/>
              </a:rPr>
              <a:t>Br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6519" y="2057400"/>
            <a:ext cx="713232" cy="713232"/>
          </a:xfrm>
          <a:prstGeom prst="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32239" y="2103120"/>
            <a:ext cx="201168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50" b="0">
                <a:solidFill>
                  <a:srgbClr val="D3BE88"/>
                </a:solidFill>
                <a:latin typeface="Aptos"/>
              </a:rPr>
              <a:t>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86519" y="2221992"/>
            <a:ext cx="7132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EDEB1"/>
                </a:solidFill>
                <a:latin typeface="Georgia"/>
              </a:rPr>
              <a:t>Ba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73287" y="3172968"/>
            <a:ext cx="914400" cy="82296"/>
          </a:xfrm>
          <a:prstGeom prst="roundRect">
            <a:avLst/>
          </a:prstGeom>
          <a:solidFill>
            <a:srgbClr val="0D0A0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701887" y="2953512"/>
            <a:ext cx="457200" cy="260604"/>
          </a:xfrm>
          <a:prstGeom prst="roundRect">
            <a:avLst/>
          </a:prstGeom>
          <a:solidFill>
            <a:srgbClr val="0D0A0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29319" y="3166110"/>
            <a:ext cx="402336" cy="54864"/>
          </a:xfrm>
          <a:prstGeom prst="rect">
            <a:avLst/>
          </a:prstGeom>
          <a:solidFill>
            <a:srgbClr val="80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51495" y="4160520"/>
            <a:ext cx="21579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EEDEB1"/>
                </a:solidFill>
                <a:latin typeface="Georgia"/>
              </a:rPr>
              <a:t>The Orbit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15503" y="4590288"/>
            <a:ext cx="2029968" cy="6949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20" b="0">
                <a:solidFill>
                  <a:srgbClr val="D3BE88"/>
                </a:solidFill>
                <a:latin typeface="Aptos"/>
              </a:rPr>
              <a:t>Skyler, Hank, Gus, Saul, and Mike keep pressure on every lie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yan_Cranston_PaleyFest_2010_red_gr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98796"/>
            <a:ext cx="12191695" cy="1625559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72768" y="256032"/>
            <a:ext cx="9043416" cy="6291072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46888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8249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2374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4436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499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8561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748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811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8873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2998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5060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7123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9185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3310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5372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7435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9497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72768" y="6245352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8249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0312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2374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4436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6499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8561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0624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4748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6811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8873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72998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5060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57123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9185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1248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83310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25372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67435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9497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591056" y="274320"/>
            <a:ext cx="9006840" cy="6254496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85832" y="601675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3BE88"/>
                </a:solidFill>
                <a:latin typeface="Aptos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84167" y="530352"/>
            <a:ext cx="4023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69637"/>
                </a:solidFill>
                <a:latin typeface="Aptos"/>
              </a:rPr>
              <a:t>CHARACTER ARC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841248"/>
            <a:ext cx="8622792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EEDEB1"/>
                </a:solidFill>
                <a:latin typeface="Georgia"/>
              </a:rPr>
              <a:t>Walter Becomes Heisenberg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09647" y="1572768"/>
            <a:ext cx="3840480" cy="4343400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538831" y="3346704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38831" y="3822191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538831" y="4297680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2538831" y="4773168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873087" y="1572768"/>
            <a:ext cx="3063240" cy="4343400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Bryan_Cranston_PaleyFest_20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434" y="1847088"/>
            <a:ext cx="2091690" cy="278892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147407" y="4892040"/>
            <a:ext cx="251460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C69637"/>
                </a:solidFill>
                <a:latin typeface="Georgia"/>
              </a:rPr>
              <a:t>One name becomes a role; the role becomes the only room he can stand in.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209647" y="1572768"/>
            <a:ext cx="3840480" cy="4343400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57119" y="1920240"/>
            <a:ext cx="3145536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20" b="0">
                <a:solidFill>
                  <a:srgbClr val="EEDEB1"/>
                </a:solidFill>
                <a:latin typeface="Aptos"/>
              </a:rPr>
              <a:t>The shift is gradual: one compromise, one excuse, one reward. Heisenberg begins as armor and becomes the person Walter chooses.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648559" y="3218688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31439" y="3127248"/>
            <a:ext cx="29260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20" b="0">
                <a:solidFill>
                  <a:srgbClr val="D3BE88"/>
                </a:solidFill>
                <a:latin typeface="Aptos"/>
              </a:rPr>
              <a:t>Fear - mortality and money panic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648559" y="3703320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31439" y="3611880"/>
            <a:ext cx="29260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20" b="0">
                <a:solidFill>
                  <a:srgbClr val="D3BE88"/>
                </a:solidFill>
                <a:latin typeface="Aptos"/>
              </a:rPr>
              <a:t>Competence - chemistry creates leverage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48559" y="4187952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31439" y="4096512"/>
            <a:ext cx="29260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20" b="0">
                <a:solidFill>
                  <a:srgbClr val="D3BE88"/>
                </a:solidFill>
                <a:latin typeface="Aptos"/>
              </a:rPr>
              <a:t>Recognition - respect becomes addictive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648559" y="4672584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31439" y="4581144"/>
            <a:ext cx="29260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20" b="0">
                <a:solidFill>
                  <a:srgbClr val="D3BE88"/>
                </a:solidFill>
                <a:latin typeface="Aptos"/>
              </a:rPr>
              <a:t>Control - the mask becomes easier to wear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0B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eaking_Bad_gas_mask_red_gr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467127"/>
            <a:ext cx="12191695" cy="1779225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72768" y="256032"/>
            <a:ext cx="9043416" cy="6291072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46888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8249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2374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4436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499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8561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748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811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8873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2998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5060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7123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9185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3310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5372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7435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9497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72768" y="6245352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8249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0312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2374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4436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6499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8561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0624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4748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6811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8873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72998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5060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57123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9185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1248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83310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25372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67435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9497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591056" y="274320"/>
            <a:ext cx="9006840" cy="6254496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85832" y="601675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3BE88"/>
                </a:solidFill>
                <a:latin typeface="Aptos"/>
              </a:rP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84167" y="530352"/>
            <a:ext cx="4023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69637"/>
                </a:solidFill>
                <a:latin typeface="Aptos"/>
              </a:rPr>
              <a:t>VISUAL LANGUAGE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99335" y="822960"/>
            <a:ext cx="819302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EEDEB1"/>
                </a:solidFill>
                <a:latin typeface="Georgia"/>
              </a:rPr>
              <a:t>Heat, Chemicals, and Shadows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83967" y="1600200"/>
            <a:ext cx="7223760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EEDEB1"/>
                </a:solidFill>
                <a:latin typeface="Aptos"/>
              </a:rPr>
              <a:t>Breaking Bad looks like a sun-bleached western that wandered into a chemistry lab. The images keep returning to controlled surfaces, open desert, domestic spaces, and objects that turn ordinary life into evidence.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98367" y="2907792"/>
            <a:ext cx="749808" cy="749808"/>
          </a:xfrm>
          <a:prstGeom prst="rect">
            <a:avLst/>
          </a:prstGeom>
          <a:solidFill>
            <a:srgbClr val="C69637"/>
          </a:solidFill>
          <a:ln w="12700">
            <a:solidFill>
              <a:srgbClr val="EED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70351" y="3776472"/>
            <a:ext cx="10058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EEDEB1"/>
                </a:solidFill>
                <a:latin typeface="Aptos"/>
              </a:rPr>
              <a:t>Desert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77359" y="2907792"/>
            <a:ext cx="749808" cy="749808"/>
          </a:xfrm>
          <a:prstGeom prst="rect">
            <a:avLst/>
          </a:prstGeom>
          <a:solidFill>
            <a:srgbClr val="12523A"/>
          </a:solidFill>
          <a:ln w="12700">
            <a:solidFill>
              <a:srgbClr val="EED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49343" y="3776472"/>
            <a:ext cx="10058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EEDEB1"/>
                </a:solidFill>
                <a:latin typeface="Aptos"/>
              </a:rPr>
              <a:t>Green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56351" y="2907792"/>
            <a:ext cx="749808" cy="749808"/>
          </a:xfrm>
          <a:prstGeom prst="rect">
            <a:avLst/>
          </a:prstGeom>
          <a:solidFill>
            <a:srgbClr val="801416"/>
          </a:solidFill>
          <a:ln w="12700">
            <a:solidFill>
              <a:srgbClr val="EED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28335" y="3776472"/>
            <a:ext cx="10058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EEDEB1"/>
                </a:solidFill>
                <a:latin typeface="Aptos"/>
              </a:rPr>
              <a:t>Cinema Red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35343" y="2907792"/>
            <a:ext cx="749808" cy="749808"/>
          </a:xfrm>
          <a:prstGeom prst="rect">
            <a:avLst/>
          </a:prstGeom>
          <a:solidFill>
            <a:srgbClr val="0D0A08"/>
          </a:solidFill>
          <a:ln w="12700">
            <a:solidFill>
              <a:srgbClr val="EED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07327" y="3776472"/>
            <a:ext cx="10058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EEDEB1"/>
                </a:solidFill>
                <a:latin typeface="Aptos"/>
              </a:rPr>
              <a:t>Black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14335" y="2907792"/>
            <a:ext cx="749808" cy="749808"/>
          </a:xfrm>
          <a:prstGeom prst="rect">
            <a:avLst/>
          </a:prstGeom>
          <a:solidFill>
            <a:srgbClr val="40B0BF"/>
          </a:solidFill>
          <a:ln w="12700">
            <a:solidFill>
              <a:srgbClr val="EED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86319" y="3776472"/>
            <a:ext cx="10058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EEDEB1"/>
                </a:solidFill>
                <a:latin typeface="Aptos"/>
              </a:rPr>
              <a:t>Blue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43987" y="4343400"/>
            <a:ext cx="6903720" cy="1143000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055467" y="4690872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56635" y="4572000"/>
            <a:ext cx="5879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EEDEB1"/>
                </a:solidFill>
                <a:latin typeface="Aptos"/>
              </a:rPr>
              <a:t>Wide desert frames make small decisions feel exposed.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55467" y="4965192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56635" y="4846320"/>
            <a:ext cx="5879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EEDEB1"/>
                </a:solidFill>
                <a:latin typeface="Aptos"/>
              </a:rPr>
              <a:t>Close-ups turn props into moral evidence.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55467" y="5239512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56635" y="5120640"/>
            <a:ext cx="5879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EEDEB1"/>
                </a:solidFill>
                <a:latin typeface="Aptos"/>
              </a:rPr>
              <a:t>Color marks danger, contamination, and identity.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72768" y="256032"/>
            <a:ext cx="9043416" cy="6291072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72768" y="246888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8249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312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2374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4436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6499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8561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2686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748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6811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873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998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5060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7123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9185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3310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5372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7435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9497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72768" y="6245352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8249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0312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2374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4436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6499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8561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0624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2686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4748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6811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8873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2998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5060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7123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9185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3310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5372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7435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09497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591056" y="274320"/>
            <a:ext cx="9006840" cy="6254496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85832" y="601675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3BE88"/>
                </a:solidFill>
                <a:latin typeface="Aptos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84167" y="530352"/>
            <a:ext cx="4023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69637"/>
                </a:solidFill>
                <a:latin typeface="Aptos"/>
              </a:rPr>
              <a:t>THEMES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99335" y="822960"/>
            <a:ext cx="819302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EEDEB1"/>
                </a:solidFill>
                <a:latin typeface="Georgia"/>
              </a:rPr>
              <a:t>What the Story Keeps Asking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392527" y="1737360"/>
            <a:ext cx="3474720" cy="1115568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93695" y="1901952"/>
            <a:ext cx="307238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69637"/>
                </a:solidFill>
                <a:latin typeface="Georgia"/>
              </a:rPr>
              <a:t>Pride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48559" y="2322576"/>
            <a:ext cx="2962656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80" b="0">
                <a:solidFill>
                  <a:srgbClr val="EEDEB1"/>
                </a:solidFill>
                <a:latin typeface="Aptos"/>
              </a:rPr>
              <a:t>When does providing become performing power?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24447" y="1737360"/>
            <a:ext cx="3474720" cy="1115568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25615" y="1901952"/>
            <a:ext cx="307238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69637"/>
                </a:solidFill>
                <a:latin typeface="Georgia"/>
              </a:rPr>
              <a:t>Family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0479" y="2322576"/>
            <a:ext cx="2962656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80" b="0">
                <a:solidFill>
                  <a:srgbClr val="EEDEB1"/>
                </a:solidFill>
                <a:latin typeface="Aptos"/>
              </a:rPr>
              <a:t>How often is love used as a shield for selfishness?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92527" y="3182112"/>
            <a:ext cx="3474720" cy="1115568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93695" y="3346704"/>
            <a:ext cx="307238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69637"/>
                </a:solidFill>
                <a:latin typeface="Georgia"/>
              </a:rPr>
              <a:t>Consequence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48559" y="3767328"/>
            <a:ext cx="2962656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80" b="0">
                <a:solidFill>
                  <a:srgbClr val="EEDEB1"/>
                </a:solidFill>
                <a:latin typeface="Aptos"/>
              </a:rPr>
              <a:t>Every clever escape creates a debt somewhere else.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24447" y="3182112"/>
            <a:ext cx="3474720" cy="1115568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25615" y="3346704"/>
            <a:ext cx="307238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69637"/>
                </a:solidFill>
                <a:latin typeface="Georgia"/>
              </a:rPr>
              <a:t>Identity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0479" y="3767328"/>
            <a:ext cx="2962656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80" b="0">
                <a:solidFill>
                  <a:srgbClr val="EEDEB1"/>
                </a:solidFill>
                <a:latin typeface="Aptos"/>
              </a:rPr>
              <a:t>A name can become a costume, then a prison.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12567" y="4983480"/>
            <a:ext cx="67665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50" b="0">
                <a:solidFill>
                  <a:srgbClr val="D3BE88"/>
                </a:solidFill>
                <a:latin typeface="Aptos"/>
              </a:rPr>
              <a:t>The suspense is emotional as much as criminal: the question is not only whether Walter survives, but what survival reveals.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72768" y="256032"/>
            <a:ext cx="9043416" cy="6291072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72768" y="246888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8249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312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2374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4436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6499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8561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2686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748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6811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873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998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5060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7123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9185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3310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5372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7435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9497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72768" y="6245352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8249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0312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2374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4436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6499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8561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0624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2686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4748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6811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8873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2998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5060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7123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9185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3310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5372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7435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09497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591056" y="274320"/>
            <a:ext cx="9006840" cy="6254496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85832" y="601675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3BE88"/>
                </a:solidFill>
                <a:latin typeface="Aptos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84167" y="530352"/>
            <a:ext cx="4023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69637"/>
                </a:solidFill>
                <a:latin typeface="Aptos"/>
              </a:rPr>
              <a:t>STRUCTURE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83080" y="841248"/>
            <a:ext cx="8622792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EEDEB1"/>
                </a:solidFill>
                <a:latin typeface="Georgia"/>
              </a:rPr>
              <a:t>Five Seasons, One Trap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21127" y="1508760"/>
            <a:ext cx="69494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EEDEB1"/>
                </a:solidFill>
                <a:latin typeface="Aptos"/>
              </a:rPr>
              <a:t>The series uses escalation like chemistry: add pressure, heat, and ego, then watch the reaction become irreversible.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45639" y="3246120"/>
            <a:ext cx="1170432" cy="1170432"/>
          </a:xfrm>
          <a:prstGeom prst="round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45639" y="3538728"/>
            <a:ext cx="11704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DEB1"/>
                </a:solidFill>
                <a:latin typeface="Georgia"/>
              </a:rPr>
              <a:t>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5599" y="4572000"/>
            <a:ext cx="1810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C69637"/>
                </a:solidFill>
                <a:latin typeface="Aptos"/>
              </a:rPr>
              <a:t>Desperation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06727" y="4910328"/>
            <a:ext cx="204825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80" b="0">
                <a:solidFill>
                  <a:srgbClr val="D3BE88"/>
                </a:solidFill>
                <a:latin typeface="Aptos"/>
              </a:rPr>
              <a:t>A secret begins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89223" y="3794760"/>
            <a:ext cx="365760" cy="54864"/>
          </a:xfrm>
          <a:prstGeom prst="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828135" y="3246120"/>
            <a:ext cx="1170432" cy="1170432"/>
          </a:xfrm>
          <a:prstGeom prst="round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28135" y="3538728"/>
            <a:ext cx="11704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DEB1"/>
                </a:solidFill>
                <a:latin typeface="Georgia"/>
              </a:rPr>
              <a:t>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08095" y="4572000"/>
            <a:ext cx="1810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C69637"/>
                </a:solidFill>
                <a:latin typeface="Aptos"/>
              </a:rPr>
              <a:t>Partnership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9223" y="4910328"/>
            <a:ext cx="204825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80" b="0">
                <a:solidFill>
                  <a:srgbClr val="D3BE88"/>
                </a:solidFill>
                <a:latin typeface="Aptos"/>
              </a:rPr>
              <a:t>The operation grows messier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71719" y="3794760"/>
            <a:ext cx="365760" cy="54864"/>
          </a:xfrm>
          <a:prstGeom prst="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510631" y="3246120"/>
            <a:ext cx="1170432" cy="1170432"/>
          </a:xfrm>
          <a:prstGeom prst="round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538728"/>
            <a:ext cx="11704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DEB1"/>
                </a:solidFill>
                <a:latin typeface="Georgia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90591" y="4572000"/>
            <a:ext cx="1810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C69637"/>
                </a:solidFill>
                <a:latin typeface="Aptos"/>
              </a:rPr>
              <a:t>Expansion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71719" y="4910328"/>
            <a:ext cx="204825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80" b="0">
                <a:solidFill>
                  <a:srgbClr val="D3BE88"/>
                </a:solidFill>
                <a:latin typeface="Aptos"/>
              </a:rPr>
              <a:t>Business replaces panic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54215" y="3794760"/>
            <a:ext cx="365760" cy="54864"/>
          </a:xfrm>
          <a:prstGeom prst="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3127" y="3246120"/>
            <a:ext cx="1170432" cy="1170432"/>
          </a:xfrm>
          <a:prstGeom prst="round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93127" y="3538728"/>
            <a:ext cx="11704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DEB1"/>
                </a:solidFill>
                <a:latin typeface="Georgia"/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73087" y="4572000"/>
            <a:ext cx="1810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C69637"/>
                </a:solidFill>
                <a:latin typeface="Aptos"/>
              </a:rPr>
              <a:t>War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54215" y="4910328"/>
            <a:ext cx="204825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80" b="0">
                <a:solidFill>
                  <a:srgbClr val="D3BE88"/>
                </a:solidFill>
                <a:latin typeface="Aptos"/>
              </a:rPr>
              <a:t>Power meets a colder rival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36711" y="3794760"/>
            <a:ext cx="365760" cy="54864"/>
          </a:xfrm>
          <a:prstGeom prst="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875623" y="3246120"/>
            <a:ext cx="1170432" cy="1170432"/>
          </a:xfrm>
          <a:prstGeom prst="round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75623" y="3538728"/>
            <a:ext cx="11704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DEB1"/>
                </a:solidFill>
                <a:latin typeface="Georgia"/>
              </a:rPr>
              <a:t>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55583" y="4572000"/>
            <a:ext cx="1810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C69637"/>
                </a:solidFill>
                <a:latin typeface="Aptos"/>
              </a:rPr>
              <a:t>Collapse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36711" y="4910328"/>
            <a:ext cx="204825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80" b="0">
                <a:solidFill>
                  <a:srgbClr val="D3BE88"/>
                </a:solidFill>
                <a:latin typeface="Aptos"/>
              </a:rPr>
              <a:t>The empire cashes its debts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72768" y="256032"/>
            <a:ext cx="9043416" cy="6291072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72768" y="246888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8249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312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2374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4436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6499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8561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2686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748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6811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873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998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5060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7123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9185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3310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5372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7435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9497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72768" y="6245352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8249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0312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2374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4436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6499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8561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0624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2686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4748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6811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8873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2998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5060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7123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9185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3310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5372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7435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09497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591056" y="274320"/>
            <a:ext cx="9006840" cy="6254496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85832" y="601675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3BE88"/>
                </a:solidFill>
                <a:latin typeface="Aptos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84167" y="530352"/>
            <a:ext cx="4023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69637"/>
                </a:solidFill>
                <a:latin typeface="Aptos"/>
              </a:rPr>
              <a:t>SYMBOLS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99335" y="822960"/>
            <a:ext cx="819302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EEDEB1"/>
                </a:solidFill>
                <a:latin typeface="Georgia"/>
              </a:rPr>
              <a:t>Objects That Carry the Story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62761" y="1700784"/>
            <a:ext cx="1874519" cy="4005072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200505" y="2421331"/>
            <a:ext cx="1389888" cy="422452"/>
          </a:xfrm>
          <a:prstGeom prst="roundRect">
            <a:avLst/>
          </a:prstGeom>
          <a:solidFill>
            <a:srgbClr val="D3BE8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062235" y="2300630"/>
            <a:ext cx="375269" cy="221284"/>
          </a:xfrm>
          <a:prstGeom prst="rect">
            <a:avLst/>
          </a:prstGeom>
          <a:solidFill>
            <a:srgbClr val="D3BE8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11696" y="2521915"/>
            <a:ext cx="222382" cy="160934"/>
          </a:xfrm>
          <a:prstGeom prst="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603572" y="2521915"/>
            <a:ext cx="222382" cy="160934"/>
          </a:xfrm>
          <a:prstGeom prst="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87325" y="2421331"/>
            <a:ext cx="166786" cy="170992"/>
          </a:xfrm>
          <a:prstGeom prst="rect">
            <a:avLst/>
          </a:prstGeom>
          <a:solidFill>
            <a:srgbClr val="07322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506280" y="2803550"/>
            <a:ext cx="194584" cy="140817"/>
          </a:xfrm>
          <a:prstGeom prst="roundRect">
            <a:avLst/>
          </a:prstGeom>
          <a:solidFill>
            <a:srgbClr val="0D0A0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61875" y="2843784"/>
            <a:ext cx="83393" cy="60350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242921" y="2803550"/>
            <a:ext cx="194584" cy="140817"/>
          </a:xfrm>
          <a:prstGeom prst="roundRect">
            <a:avLst/>
          </a:prstGeom>
          <a:solidFill>
            <a:srgbClr val="0D0A0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298516" y="2843784"/>
            <a:ext cx="83393" cy="60350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90777" y="3950208"/>
            <a:ext cx="1618487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EDEB1"/>
                </a:solidFill>
                <a:latin typeface="Georgia"/>
              </a:rPr>
              <a:t>RV Lab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45641" y="4425696"/>
            <a:ext cx="1508759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0">
                <a:solidFill>
                  <a:srgbClr val="D3BE88"/>
                </a:solidFill>
                <a:latin typeface="Aptos"/>
              </a:rPr>
              <a:t>The first criminal stage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93312" y="1700784"/>
            <a:ext cx="1874519" cy="4005072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Breaking_Bad_gas_ma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423" y="1901952"/>
            <a:ext cx="1159153" cy="169164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221328" y="3950208"/>
            <a:ext cx="1618487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EDEB1"/>
                </a:solidFill>
                <a:latin typeface="Georgia"/>
              </a:rPr>
              <a:t>Gas Mask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76192" y="4425696"/>
            <a:ext cx="1508759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0">
                <a:solidFill>
                  <a:srgbClr val="D3BE88"/>
                </a:solidFill>
                <a:latin typeface="Aptos"/>
              </a:rPr>
              <a:t>Science, danger, and disguise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23863" y="1700784"/>
            <a:ext cx="1874519" cy="4005072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607911" y="2772460"/>
            <a:ext cx="1097280" cy="104241"/>
          </a:xfrm>
          <a:prstGeom prst="roundRect">
            <a:avLst/>
          </a:prstGeom>
          <a:solidFill>
            <a:srgbClr val="0D0A0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882231" y="2494483"/>
            <a:ext cx="548640" cy="330098"/>
          </a:xfrm>
          <a:prstGeom prst="roundRect">
            <a:avLst/>
          </a:prstGeom>
          <a:solidFill>
            <a:srgbClr val="0D0A08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15149" y="2763774"/>
            <a:ext cx="482803" cy="69494"/>
          </a:xfrm>
          <a:prstGeom prst="rect">
            <a:avLst/>
          </a:prstGeom>
          <a:solidFill>
            <a:srgbClr val="80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1879" y="3950208"/>
            <a:ext cx="1618487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EDEB1"/>
                </a:solidFill>
                <a:latin typeface="Georgia"/>
              </a:rPr>
              <a:t>Pork Pie Hat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6743" y="4425696"/>
            <a:ext cx="1508759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0">
                <a:solidFill>
                  <a:srgbClr val="D3BE88"/>
                </a:solidFill>
                <a:latin typeface="Aptos"/>
              </a:rPr>
              <a:t>A costume becomes an identity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354414" y="1700784"/>
            <a:ext cx="1874519" cy="4005072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06634" y="2121408"/>
            <a:ext cx="160934" cy="380390"/>
          </a:xfrm>
          <a:prstGeom prst="rect">
            <a:avLst/>
          </a:prstGeom>
          <a:solidFill>
            <a:srgbClr val="40B0BF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005466" y="2454249"/>
            <a:ext cx="563270" cy="570585"/>
          </a:xfrm>
          <a:prstGeom prst="roundRect">
            <a:avLst/>
          </a:prstGeom>
          <a:solidFill>
            <a:srgbClr val="40B0BF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085934" y="2739542"/>
            <a:ext cx="402336" cy="95097"/>
          </a:xfrm>
          <a:prstGeom prst="rect">
            <a:avLst/>
          </a:prstGeom>
          <a:solidFill>
            <a:srgbClr val="EED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82430" y="3950208"/>
            <a:ext cx="1618487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EDEB1"/>
                </a:solidFill>
                <a:latin typeface="Georgia"/>
              </a:rPr>
              <a:t>Blue Product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37294" y="4425696"/>
            <a:ext cx="1508759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0">
                <a:solidFill>
                  <a:srgbClr val="D3BE88"/>
                </a:solidFill>
                <a:latin typeface="Aptos"/>
              </a:rPr>
              <a:t>Chemistry turned into reputation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leyFest_2010_Breaking_Bad_creator_Vince_Gilligan_RJ_Mitte_Walt_Jr_Aaron_Paul_J_red_gr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44405" y="0"/>
            <a:ext cx="1848050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72768" y="256032"/>
            <a:ext cx="9043416" cy="6291072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46888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8249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2374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4436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499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8561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748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811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8873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2998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5060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7123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9185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3310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5372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7435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9497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72768" y="6245352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8249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0312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2374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4436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6499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8561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0624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4748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6811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8873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72998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5060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57123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9185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1248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83310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25372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67435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9497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591056" y="274320"/>
            <a:ext cx="9006840" cy="6254496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85832" y="601675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3BE88"/>
                </a:solidFill>
                <a:latin typeface="Aptos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84167" y="530352"/>
            <a:ext cx="4023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69637"/>
                </a:solidFill>
                <a:latin typeface="Aptos"/>
              </a:rPr>
              <a:t>IMPACT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99335" y="822960"/>
            <a:ext cx="819302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EEDEB1"/>
                </a:solidFill>
                <a:latin typeface="Georgia"/>
              </a:rPr>
              <a:t>Why It Stayed in the Culture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46808" y="1664208"/>
            <a:ext cx="3566160" cy="3977639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666848" y="2203703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68016" y="2084831"/>
            <a:ext cx="272491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20" b="0">
                <a:solidFill>
                  <a:srgbClr val="EEDEB1"/>
                </a:solidFill>
                <a:latin typeface="Aptos"/>
              </a:rPr>
              <a:t>Helped define the modern TV antihero era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66848" y="2770631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68016" y="2651759"/>
            <a:ext cx="272491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20" b="0">
                <a:solidFill>
                  <a:srgbClr val="EEDEB1"/>
                </a:solidFill>
                <a:latin typeface="Aptos"/>
              </a:rPr>
              <a:t>Turned Albuquerque into part of the show identity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66848" y="3337559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68016" y="3218687"/>
            <a:ext cx="272491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20" b="0">
                <a:solidFill>
                  <a:srgbClr val="EEDEB1"/>
                </a:solidFill>
                <a:latin typeface="Aptos"/>
              </a:rPr>
              <a:t>Made the RV, gas mask, and hat instantly recognizable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666848" y="3904487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68016" y="3785615"/>
            <a:ext cx="272491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20" b="0">
                <a:solidFill>
                  <a:srgbClr val="EEDEB1"/>
                </a:solidFill>
                <a:latin typeface="Aptos"/>
              </a:rPr>
              <a:t>Expanded into El Camino and Better Call Saul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15887" y="1664208"/>
            <a:ext cx="3429000" cy="3977639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44487" y="1965960"/>
            <a:ext cx="2971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69637"/>
                </a:solidFill>
                <a:latin typeface="Georgia"/>
              </a:rPr>
              <a:t>Attention Built Over Time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09079" y="4151376"/>
            <a:ext cx="292608" cy="402335"/>
          </a:xfrm>
          <a:prstGeom prst="rect">
            <a:avLst/>
          </a:prstGeom>
          <a:solidFill>
            <a:srgbClr val="12523A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90791" y="4700016"/>
            <a:ext cx="329184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D3BE88"/>
                </a:solidFill>
                <a:latin typeface="Aptos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02855" y="3916680"/>
            <a:ext cx="292608" cy="637032"/>
          </a:xfrm>
          <a:prstGeom prst="rect">
            <a:avLst/>
          </a:prstGeom>
          <a:solidFill>
            <a:srgbClr val="12523A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84567" y="4700016"/>
            <a:ext cx="329184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D3BE88"/>
                </a:solidFill>
                <a:latin typeface="Aptos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96631" y="3681984"/>
            <a:ext cx="292608" cy="871728"/>
          </a:xfrm>
          <a:prstGeom prst="rect">
            <a:avLst/>
          </a:prstGeom>
          <a:solidFill>
            <a:srgbClr val="12523A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8343" y="4700016"/>
            <a:ext cx="329184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D3BE88"/>
                </a:solidFill>
                <a:latin typeface="Aptos"/>
              </a:rP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90407" y="3313176"/>
            <a:ext cx="292608" cy="1240536"/>
          </a:xfrm>
          <a:prstGeom prst="rect">
            <a:avLst/>
          </a:prstGeom>
          <a:solidFill>
            <a:srgbClr val="12523A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72119" y="4700016"/>
            <a:ext cx="329184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D3BE88"/>
                </a:solidFill>
                <a:latin typeface="Aptos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84183" y="2542032"/>
            <a:ext cx="292608" cy="2011680"/>
          </a:xfrm>
          <a:prstGeom prst="rect">
            <a:avLst/>
          </a:prstGeom>
          <a:solidFill>
            <a:srgbClr val="12523A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65895" y="4700016"/>
            <a:ext cx="329184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D3BE88"/>
                </a:solidFill>
                <a:latin typeface="Aptos"/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67447" y="4965192"/>
            <a:ext cx="114300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D3BE88"/>
                </a:solidFill>
                <a:latin typeface="Aptos"/>
              </a:rPr>
              <a:t>Season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72768" y="256032"/>
            <a:ext cx="9043416" cy="6291072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72768" y="246888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8249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312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2374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4436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6499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8561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2686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748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6811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873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998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5060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7123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9185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3310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5372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7435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9497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72768" y="6245352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8249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0312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2374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4436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6499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8561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0624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2686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4748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6811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8873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2998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5060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7123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9185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3310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5372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7435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09497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591056" y="274320"/>
            <a:ext cx="9006840" cy="6254496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85832" y="601675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3BE88"/>
                </a:solidFill>
                <a:latin typeface="Aptos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84167" y="530352"/>
            <a:ext cx="4023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69637"/>
                </a:solidFill>
                <a:latin typeface="Aptos"/>
              </a:rPr>
              <a:t>PRESENTATION OPTIONS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83080" y="841248"/>
            <a:ext cx="8622792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EEDEB1"/>
                </a:solidFill>
                <a:latin typeface="Georgia"/>
              </a:rPr>
              <a:t>Presentation Angles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301087" y="1737360"/>
            <a:ext cx="3611880" cy="1097280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02255" y="1901952"/>
            <a:ext cx="320954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69637"/>
                </a:solidFill>
                <a:latin typeface="Georgia"/>
              </a:rPr>
              <a:t>Character Study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75407" y="2304288"/>
            <a:ext cx="3063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0">
                <a:solidFill>
                  <a:srgbClr val="EEDEB1"/>
                </a:solidFill>
                <a:latin typeface="Aptos"/>
              </a:rPr>
              <a:t>Focus on Walter transformation and Jesse conscience.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78726" y="1737360"/>
            <a:ext cx="3611880" cy="1097280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79894" y="1901952"/>
            <a:ext cx="320954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69637"/>
                </a:solidFill>
                <a:latin typeface="Georgia"/>
              </a:rPr>
              <a:t>Moral Tragedy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53046" y="2304288"/>
            <a:ext cx="3063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0">
                <a:solidFill>
                  <a:srgbClr val="EEDEB1"/>
                </a:solidFill>
                <a:latin typeface="Aptos"/>
              </a:rPr>
              <a:t>Track choices, excuses, and consequences.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01087" y="3310128"/>
            <a:ext cx="3611880" cy="1097280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02255" y="3474720"/>
            <a:ext cx="320954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69637"/>
                </a:solidFill>
                <a:latin typeface="Georgia"/>
              </a:rPr>
              <a:t>Visual Style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75407" y="3877056"/>
            <a:ext cx="3063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0">
                <a:solidFill>
                  <a:srgbClr val="EEDEB1"/>
                </a:solidFill>
                <a:latin typeface="Aptos"/>
              </a:rPr>
              <a:t>Analyze color, props, desert framing, and chemistry motifs.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78726" y="3310128"/>
            <a:ext cx="3611880" cy="1097280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79894" y="3474720"/>
            <a:ext cx="320954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69637"/>
                </a:solidFill>
                <a:latin typeface="Georgia"/>
              </a:rPr>
              <a:t>Cultural Impact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53046" y="3877056"/>
            <a:ext cx="3063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0">
                <a:solidFill>
                  <a:srgbClr val="EEDEB1"/>
                </a:solidFill>
                <a:latin typeface="Aptos"/>
              </a:rPr>
              <a:t>Explain how the show shaped prestige TV and spin-off storytelling.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1127" y="5358384"/>
            <a:ext cx="69494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D3BE88"/>
                </a:solidFill>
                <a:latin typeface="Aptos"/>
              </a:rPr>
              <a:t>Best choice for a short classroom talk: Moral Tragedy. It gives you plot, character, and theme in one clean argument.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72768" y="256032"/>
            <a:ext cx="9043416" cy="6291072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72768" y="246888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8249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312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2374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4436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6499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8561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2686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748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6811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873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998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5060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7123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9185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33104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53728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74352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94976" y="329184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72768" y="6245352"/>
            <a:ext cx="9043416" cy="310896"/>
          </a:xfrm>
          <a:prstGeom prst="rect">
            <a:avLst/>
          </a:prstGeom>
          <a:solidFill>
            <a:srgbClr val="16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8249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0312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2374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4436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6499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8561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0624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2686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4748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6811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8873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2998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5060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7123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9185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33104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53728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74352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094976" y="6327648"/>
            <a:ext cx="146304" cy="137160"/>
          </a:xfrm>
          <a:prstGeom prst="roundRect">
            <a:avLst/>
          </a:prstGeom>
          <a:solidFill>
            <a:srgbClr val="D3B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591056" y="274320"/>
            <a:ext cx="9006840" cy="6254496"/>
          </a:xfrm>
          <a:prstGeom prst="rect">
            <a:avLst/>
          </a:prstGeom>
          <a:solidFill>
            <a:srgbClr val="050504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85832" y="601675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3BE88"/>
                </a:solidFill>
                <a:latin typeface="Aptos"/>
              </a:rP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84167" y="530352"/>
            <a:ext cx="4023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69637"/>
                </a:solidFill>
                <a:latin typeface="Aptos"/>
              </a:rPr>
              <a:t>CREDITS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99335" y="822960"/>
            <a:ext cx="819302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EEDEB1"/>
                </a:solidFill>
                <a:latin typeface="Georgia"/>
              </a:rPr>
              <a:t>Image Sources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5407" y="1417320"/>
            <a:ext cx="7040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20" b="0">
                <a:solidFill>
                  <a:srgbClr val="D3BE88"/>
                </a:solidFill>
                <a:latin typeface="Aptos"/>
              </a:rPr>
              <a:t>Images were sourced from web pages with visible license or usage information. Check each source before public or commercial use.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92527" y="1920240"/>
            <a:ext cx="7406640" cy="3337560"/>
          </a:xfrm>
          <a:prstGeom prst="roundRect">
            <a:avLst/>
          </a:prstGeom>
          <a:solidFill>
            <a:srgbClr val="16100D"/>
          </a:solidFill>
          <a:ln w="12700">
            <a:solidFill>
              <a:srgbClr val="C6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666847" y="2359152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68015" y="2240280"/>
            <a:ext cx="665683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40" b="0">
                <a:solidFill>
                  <a:srgbClr val="EEDEB1"/>
                </a:solidFill>
                <a:latin typeface="Aptos"/>
              </a:rPr>
              <a:t>Breaking Bad gas mask - Wikimedia Commons - CC BY-SA 4.0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66847" y="2798064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68015" y="2679192"/>
            <a:ext cx="665683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40" b="0">
                <a:solidFill>
                  <a:srgbClr val="EEDEB1"/>
                </a:solidFill>
                <a:latin typeface="Aptos"/>
              </a:rPr>
              <a:t>PaleyFest 2010 Breaking Bad cast photo - Wikimedia Commons - CC BY 2.0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66847" y="3236976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68015" y="3118104"/>
            <a:ext cx="665683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40" b="0">
                <a:solidFill>
                  <a:srgbClr val="EEDEB1"/>
                </a:solidFill>
                <a:latin typeface="Aptos"/>
              </a:rPr>
              <a:t>Bryan Cranston PaleyFest 2010 - Wikimedia Commons - CC BY 2.0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66847" y="3675888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68015" y="3557016"/>
            <a:ext cx="665683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40" b="0">
                <a:solidFill>
                  <a:srgbClr val="EEDEB1"/>
                </a:solidFill>
                <a:latin typeface="Aptos"/>
              </a:rPr>
              <a:t>Aaron Paul at the 68th Annual Peabody Awards - Wikimedia Commons - CC BY 2.0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666847" y="4114800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68015" y="3995928"/>
            <a:ext cx="665683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40" b="0">
                <a:solidFill>
                  <a:srgbClr val="EEDEB1"/>
                </a:solidFill>
                <a:latin typeface="Aptos"/>
              </a:rPr>
              <a:t>Albuquerque skyline - PerryPlanet, Wikimedia Commons - Public Domain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666847" y="4553712"/>
            <a:ext cx="73152" cy="73152"/>
          </a:xfrm>
          <a:prstGeom prst="roundRect">
            <a:avLst/>
          </a:prstGeom>
          <a:solidFill>
            <a:srgbClr val="C6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68015" y="4434840"/>
            <a:ext cx="665683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40" b="0">
                <a:solidFill>
                  <a:srgbClr val="EEDEB1"/>
                </a:solidFill>
                <a:latin typeface="Aptos"/>
              </a:rPr>
              <a:t>Desert grassland in southern New Mexico - Miguel Villarreal, USGS - Public Domain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12567" y="5596128"/>
            <a:ext cx="67665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C69637"/>
                </a:solidFill>
                <a:latin typeface="Aptos"/>
              </a:rPr>
              <a:t>Template note: direct Canva editing was unavailable, so this centered version is ready to import into Canva.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