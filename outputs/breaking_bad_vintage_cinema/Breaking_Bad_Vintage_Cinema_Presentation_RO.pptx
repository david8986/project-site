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A08"/>
        </a:solidFill>
        <a:effectLst/>
      </p:bgPr>
    </p:bg>
    <p:spTree>
      <p:nvGrpSpPr>
        <p:cNvPr id="1" name=""/>
        <p:cNvGrpSpPr/>
        <p:nvPr/>
      </p:nvGrpSpPr>
      <p:grpSpPr/>
      <p:pic>
        <p:nvPicPr>
          <p:cNvPr id="2" name="Picture 1" descr="Breaking_Bad_gas_mask_red_grade.jpg"/>
          <p:cNvPicPr>
            <a:picLocks noChangeAspect="1"/>
          </p:cNvPicPr>
          <p:nvPr/>
        </p:nvPicPr>
        <p:blipFill>
          <a:blip r:embed="rId2"/>
          <a:stretch>
            <a:fillRect/>
          </a:stretch>
        </p:blipFill>
        <p:spPr>
          <a:xfrm>
            <a:off x="0" y="-5467127"/>
            <a:ext cx="12191695" cy="17792254"/>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01</a:t>
            </a:r>
          </a:p>
        </p:txBody>
      </p:sp>
      <p:sp>
        <p:nvSpPr>
          <p:cNvPr id="51" name="Rectangle 50"/>
          <p:cNvSpPr/>
          <p:nvPr/>
        </p:nvSpPr>
        <p:spPr>
          <a:xfrm>
            <a:off x="5373471" y="1060704"/>
            <a:ext cx="713232" cy="713232"/>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19191" y="1106424"/>
            <a:ext cx="201168" cy="109728"/>
          </a:xfrm>
          <a:prstGeom prst="rect">
            <a:avLst/>
          </a:prstGeom>
          <a:noFill/>
        </p:spPr>
        <p:txBody>
          <a:bodyPr wrap="square" lIns="36576" rIns="36576" tIns="18288" bIns="18288" anchor="t">
            <a:spAutoFit/>
          </a:bodyPr>
          <a:lstStyle/>
          <a:p>
            <a:pPr algn="l"/>
            <a:r>
              <a:rPr sz="650" b="0">
                <a:solidFill>
                  <a:srgbClr val="D3BE88"/>
                </a:solidFill>
                <a:latin typeface="Aptos"/>
              </a:rPr>
              <a:t>35</a:t>
            </a:r>
          </a:p>
        </p:txBody>
      </p:sp>
      <p:sp>
        <p:nvSpPr>
          <p:cNvPr id="53" name="TextBox 52"/>
          <p:cNvSpPr txBox="1"/>
          <p:nvPr/>
        </p:nvSpPr>
        <p:spPr>
          <a:xfrm>
            <a:off x="5373471" y="1225296"/>
            <a:ext cx="713232" cy="310896"/>
          </a:xfrm>
          <a:prstGeom prst="rect">
            <a:avLst/>
          </a:prstGeom>
          <a:noFill/>
        </p:spPr>
        <p:txBody>
          <a:bodyPr wrap="square" lIns="36576" rIns="36576" tIns="18288" bIns="18288" anchor="t">
            <a:spAutoFit/>
          </a:bodyPr>
          <a:lstStyle/>
          <a:p>
            <a:pPr algn="ctr"/>
            <a:r>
              <a:rPr sz="2300" b="1">
                <a:solidFill>
                  <a:srgbClr val="EEDEB1"/>
                </a:solidFill>
                <a:latin typeface="Georgia"/>
              </a:rPr>
              <a:t>Br</a:t>
            </a:r>
          </a:p>
        </p:txBody>
      </p:sp>
      <p:sp>
        <p:nvSpPr>
          <p:cNvPr id="54" name="Rectangle 53"/>
          <p:cNvSpPr/>
          <p:nvPr/>
        </p:nvSpPr>
        <p:spPr>
          <a:xfrm>
            <a:off x="6306159" y="1060704"/>
            <a:ext cx="713232" cy="713232"/>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1879" y="1106424"/>
            <a:ext cx="201168" cy="109728"/>
          </a:xfrm>
          <a:prstGeom prst="rect">
            <a:avLst/>
          </a:prstGeom>
          <a:noFill/>
        </p:spPr>
        <p:txBody>
          <a:bodyPr wrap="square" lIns="36576" rIns="36576" tIns="18288" bIns="18288" anchor="t">
            <a:spAutoFit/>
          </a:bodyPr>
          <a:lstStyle/>
          <a:p>
            <a:pPr algn="l"/>
            <a:r>
              <a:rPr sz="650" b="0">
                <a:solidFill>
                  <a:srgbClr val="D3BE88"/>
                </a:solidFill>
                <a:latin typeface="Aptos"/>
              </a:rPr>
              <a:t>56</a:t>
            </a:r>
          </a:p>
        </p:txBody>
      </p:sp>
      <p:sp>
        <p:nvSpPr>
          <p:cNvPr id="56" name="TextBox 55"/>
          <p:cNvSpPr txBox="1"/>
          <p:nvPr/>
        </p:nvSpPr>
        <p:spPr>
          <a:xfrm>
            <a:off x="6306159" y="1225296"/>
            <a:ext cx="713232" cy="310896"/>
          </a:xfrm>
          <a:prstGeom prst="rect">
            <a:avLst/>
          </a:prstGeom>
          <a:noFill/>
        </p:spPr>
        <p:txBody>
          <a:bodyPr wrap="square" lIns="36576" rIns="36576" tIns="18288" bIns="18288" anchor="t">
            <a:spAutoFit/>
          </a:bodyPr>
          <a:lstStyle/>
          <a:p>
            <a:pPr algn="ctr"/>
            <a:r>
              <a:rPr sz="2300" b="1">
                <a:solidFill>
                  <a:srgbClr val="EEDEB1"/>
                </a:solidFill>
                <a:latin typeface="Georgia"/>
              </a:rPr>
              <a:t>Ba</a:t>
            </a:r>
          </a:p>
        </p:txBody>
      </p:sp>
      <p:sp>
        <p:nvSpPr>
          <p:cNvPr id="57" name="TextBox 56"/>
          <p:cNvSpPr txBox="1"/>
          <p:nvPr/>
        </p:nvSpPr>
        <p:spPr>
          <a:xfrm>
            <a:off x="1999335" y="1901952"/>
            <a:ext cx="8193024" cy="868680"/>
          </a:xfrm>
          <a:prstGeom prst="rect">
            <a:avLst/>
          </a:prstGeom>
          <a:noFill/>
        </p:spPr>
        <p:txBody>
          <a:bodyPr wrap="square" lIns="36576" rIns="36576" tIns="18288" bIns="18288" anchor="t">
            <a:spAutoFit/>
          </a:bodyPr>
          <a:lstStyle/>
          <a:p>
            <a:pPr algn="ctr"/>
            <a:r>
              <a:rPr sz="5800" b="1">
                <a:solidFill>
                  <a:srgbClr val="EEDEB1"/>
                </a:solidFill>
                <a:latin typeface="Georgia"/>
              </a:rPr>
              <a:t>BREAKING BAD</a:t>
            </a:r>
          </a:p>
        </p:txBody>
      </p:sp>
      <p:sp>
        <p:nvSpPr>
          <p:cNvPr id="58" name="TextBox 57"/>
          <p:cNvSpPr txBox="1"/>
          <p:nvPr/>
        </p:nvSpPr>
        <p:spPr>
          <a:xfrm>
            <a:off x="1999335" y="2779776"/>
            <a:ext cx="8193024" cy="320040"/>
          </a:xfrm>
          <a:prstGeom prst="rect">
            <a:avLst/>
          </a:prstGeom>
          <a:noFill/>
        </p:spPr>
        <p:txBody>
          <a:bodyPr wrap="square" lIns="36576" rIns="36576" tIns="18288" bIns="18288" anchor="t">
            <a:spAutoFit/>
          </a:bodyPr>
          <a:lstStyle/>
          <a:p>
            <a:pPr algn="ctr"/>
            <a:r>
              <a:rPr sz="2200" b="1">
                <a:solidFill>
                  <a:srgbClr val="C69637"/>
                </a:solidFill>
                <a:latin typeface="Aptos"/>
              </a:rPr>
              <a:t>Chimia consecințelor</a:t>
            </a:r>
          </a:p>
        </p:txBody>
      </p:sp>
      <p:sp>
        <p:nvSpPr>
          <p:cNvPr id="59" name="TextBox 58"/>
          <p:cNvSpPr txBox="1"/>
          <p:nvPr/>
        </p:nvSpPr>
        <p:spPr>
          <a:xfrm>
            <a:off x="2804007" y="3401568"/>
            <a:ext cx="6583680" cy="621792"/>
          </a:xfrm>
          <a:prstGeom prst="rect">
            <a:avLst/>
          </a:prstGeom>
          <a:noFill/>
        </p:spPr>
        <p:txBody>
          <a:bodyPr wrap="square" lIns="36576" rIns="36576" tIns="18288" bIns="18288" anchor="t">
            <a:spAutoFit/>
          </a:bodyPr>
          <a:lstStyle/>
          <a:p>
            <a:pPr algn="ctr"/>
            <a:r>
              <a:rPr sz="2000" b="0">
                <a:solidFill>
                  <a:srgbClr val="EEDEB1"/>
                </a:solidFill>
                <a:latin typeface="Aptos"/>
              </a:rPr>
              <a:t>O prezentare în stil cinema vintage despre serialul care transformă o alegere disperată într-un imperiu.</a:t>
            </a:r>
          </a:p>
        </p:txBody>
      </p:sp>
      <p:sp>
        <p:nvSpPr>
          <p:cNvPr id="60" name="Rounded Rectangle 59"/>
          <p:cNvSpPr/>
          <p:nvPr/>
        </p:nvSpPr>
        <p:spPr>
          <a:xfrm>
            <a:off x="4107027" y="5230368"/>
            <a:ext cx="1143000" cy="329184"/>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61891" y="5298948"/>
            <a:ext cx="1033272" cy="146304"/>
          </a:xfrm>
          <a:prstGeom prst="rect">
            <a:avLst/>
          </a:prstGeom>
          <a:noFill/>
        </p:spPr>
        <p:txBody>
          <a:bodyPr wrap="square" lIns="36576" rIns="36576" tIns="18288" bIns="18288" anchor="t">
            <a:spAutoFit/>
          </a:bodyPr>
          <a:lstStyle/>
          <a:p>
            <a:pPr algn="ctr"/>
            <a:r>
              <a:rPr sz="950" b="1">
                <a:solidFill>
                  <a:srgbClr val="EEDEB1"/>
                </a:solidFill>
                <a:latin typeface="Aptos"/>
              </a:rPr>
              <a:t>2008-2013</a:t>
            </a:r>
          </a:p>
        </p:txBody>
      </p:sp>
      <p:sp>
        <p:nvSpPr>
          <p:cNvPr id="62" name="Rounded Rectangle 61"/>
          <p:cNvSpPr/>
          <p:nvPr/>
        </p:nvSpPr>
        <p:spPr>
          <a:xfrm>
            <a:off x="5318607" y="5230368"/>
            <a:ext cx="1554480" cy="329184"/>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73471" y="5298948"/>
            <a:ext cx="1444752" cy="146304"/>
          </a:xfrm>
          <a:prstGeom prst="rect">
            <a:avLst/>
          </a:prstGeom>
          <a:noFill/>
        </p:spPr>
        <p:txBody>
          <a:bodyPr wrap="square" lIns="36576" rIns="36576" tIns="18288" bIns="18288" anchor="t">
            <a:spAutoFit/>
          </a:bodyPr>
          <a:lstStyle/>
          <a:p>
            <a:pPr algn="ctr"/>
            <a:r>
              <a:rPr sz="950" b="1">
                <a:solidFill>
                  <a:srgbClr val="EEDEB1"/>
                </a:solidFill>
                <a:latin typeface="Aptos"/>
              </a:rPr>
              <a:t>VINCE GILLIGAN</a:t>
            </a:r>
          </a:p>
        </p:txBody>
      </p:sp>
      <p:sp>
        <p:nvSpPr>
          <p:cNvPr id="64" name="Rounded Rectangle 63"/>
          <p:cNvSpPr/>
          <p:nvPr/>
        </p:nvSpPr>
        <p:spPr>
          <a:xfrm>
            <a:off x="6941667" y="5230368"/>
            <a:ext cx="1325880" cy="329184"/>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996531" y="5298948"/>
            <a:ext cx="1216152" cy="146304"/>
          </a:xfrm>
          <a:prstGeom prst="rect">
            <a:avLst/>
          </a:prstGeom>
          <a:noFill/>
        </p:spPr>
        <p:txBody>
          <a:bodyPr wrap="square" lIns="36576" rIns="36576" tIns="18288" bIns="18288" anchor="t">
            <a:spAutoFit/>
          </a:bodyPr>
          <a:lstStyle/>
          <a:p>
            <a:pPr algn="ctr"/>
            <a:r>
              <a:rPr sz="950" b="1">
                <a:solidFill>
                  <a:srgbClr val="EEDEB1"/>
                </a:solidFill>
                <a:latin typeface="Aptos"/>
              </a:rPr>
              <a:t>ALBUQUERQUE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580B0F"/>
        </a:solidFill>
        <a:effectLst/>
      </p:bgPr>
    </p:bg>
    <p:spTree>
      <p:nvGrpSpPr>
        <p:cNvPr id="1" name=""/>
        <p:cNvGrpSpPr/>
        <p:nvPr/>
      </p:nvGrpSpPr>
      <p:grpSpPr/>
      <p:pic>
        <p:nvPicPr>
          <p:cNvPr id="2" name="Picture 1" descr="PaleyFest_2010_Breaking_Bad_creator_Vince_Gilligan_RJ_Mitte_Walt_Jr_Aaron_Paul_J_red_grade.jpg"/>
          <p:cNvPicPr>
            <a:picLocks noChangeAspect="1"/>
          </p:cNvPicPr>
          <p:nvPr/>
        </p:nvPicPr>
        <p:blipFill>
          <a:blip r:embed="rId2"/>
          <a:stretch>
            <a:fillRect/>
          </a:stretch>
        </p:blipFill>
        <p:spPr>
          <a:xfrm>
            <a:off x="-3144405" y="0"/>
            <a:ext cx="18480505" cy="6858000"/>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02</a:t>
            </a:r>
          </a:p>
        </p:txBody>
      </p:sp>
      <p:sp>
        <p:nvSpPr>
          <p:cNvPr id="51" name="TextBox 50"/>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PROFILUL SERIALULUI</a:t>
            </a:r>
          </a:p>
        </p:txBody>
      </p:sp>
      <p:sp>
        <p:nvSpPr>
          <p:cNvPr id="52" name="TextBox 51"/>
          <p:cNvSpPr txBox="1"/>
          <p:nvPr/>
        </p:nvSpPr>
        <p:spPr>
          <a:xfrm>
            <a:off x="1999335" y="822960"/>
            <a:ext cx="8193024" cy="566928"/>
          </a:xfrm>
          <a:prstGeom prst="rect">
            <a:avLst/>
          </a:prstGeom>
          <a:noFill/>
        </p:spPr>
        <p:txBody>
          <a:bodyPr wrap="square" lIns="36576" rIns="36576" tIns="18288" bIns="18288" anchor="t">
            <a:spAutoFit/>
          </a:bodyPr>
          <a:lstStyle/>
          <a:p>
            <a:pPr algn="ctr"/>
            <a:r>
              <a:rPr sz="4200" b="1">
                <a:solidFill>
                  <a:srgbClr val="EEDEB1"/>
                </a:solidFill>
                <a:latin typeface="Georgia"/>
              </a:rPr>
              <a:t>Ce este</a:t>
            </a:r>
          </a:p>
        </p:txBody>
      </p:sp>
      <p:sp>
        <p:nvSpPr>
          <p:cNvPr id="53" name="Rounded Rectangle 52"/>
          <p:cNvSpPr/>
          <p:nvPr/>
        </p:nvSpPr>
        <p:spPr>
          <a:xfrm>
            <a:off x="2849727" y="1673352"/>
            <a:ext cx="6492240" cy="233172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197199" y="2066544"/>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98367" y="1947672"/>
            <a:ext cx="5596128" cy="384048"/>
          </a:xfrm>
          <a:prstGeom prst="rect">
            <a:avLst/>
          </a:prstGeom>
          <a:noFill/>
        </p:spPr>
        <p:txBody>
          <a:bodyPr wrap="square" lIns="36576" rIns="36576" tIns="18288" bIns="18288" anchor="t">
            <a:spAutoFit/>
          </a:bodyPr>
          <a:lstStyle/>
          <a:p>
            <a:pPr algn="l"/>
            <a:r>
              <a:rPr sz="1800" b="0">
                <a:solidFill>
                  <a:srgbClr val="EEDEB1"/>
                </a:solidFill>
                <a:latin typeface="Aptos"/>
              </a:rPr>
              <a:t>Dramă crime americană, cu ton de western modern</a:t>
            </a:r>
          </a:p>
        </p:txBody>
      </p:sp>
      <p:sp>
        <p:nvSpPr>
          <p:cNvPr id="56" name="Rounded Rectangle 55"/>
          <p:cNvSpPr/>
          <p:nvPr/>
        </p:nvSpPr>
        <p:spPr>
          <a:xfrm>
            <a:off x="3197199" y="245059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98367" y="2331720"/>
            <a:ext cx="5596128" cy="384048"/>
          </a:xfrm>
          <a:prstGeom prst="rect">
            <a:avLst/>
          </a:prstGeom>
          <a:noFill/>
        </p:spPr>
        <p:txBody>
          <a:bodyPr wrap="square" lIns="36576" rIns="36576" tIns="18288" bIns="18288" anchor="t">
            <a:spAutoFit/>
          </a:bodyPr>
          <a:lstStyle/>
          <a:p>
            <a:pPr algn="l"/>
            <a:r>
              <a:rPr sz="1800" b="0">
                <a:solidFill>
                  <a:srgbClr val="EEDEB1"/>
                </a:solidFill>
                <a:latin typeface="Aptos"/>
              </a:rPr>
              <a:t>Creat de Vince Gilligan</a:t>
            </a:r>
          </a:p>
        </p:txBody>
      </p:sp>
      <p:sp>
        <p:nvSpPr>
          <p:cNvPr id="58" name="Rounded Rectangle 57"/>
          <p:cNvSpPr/>
          <p:nvPr/>
        </p:nvSpPr>
        <p:spPr>
          <a:xfrm>
            <a:off x="3197199" y="2834640"/>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98367" y="2715768"/>
            <a:ext cx="5596128" cy="384048"/>
          </a:xfrm>
          <a:prstGeom prst="rect">
            <a:avLst/>
          </a:prstGeom>
          <a:noFill/>
        </p:spPr>
        <p:txBody>
          <a:bodyPr wrap="square" lIns="36576" rIns="36576" tIns="18288" bIns="18288" anchor="t">
            <a:spAutoFit/>
          </a:bodyPr>
          <a:lstStyle/>
          <a:p>
            <a:pPr algn="l"/>
            <a:r>
              <a:rPr sz="1800" b="0">
                <a:solidFill>
                  <a:srgbClr val="EEDEB1"/>
                </a:solidFill>
                <a:latin typeface="Aptos"/>
              </a:rPr>
              <a:t>Acțiunea se petrece în Albuquerque, New Mexico</a:t>
            </a:r>
          </a:p>
        </p:txBody>
      </p:sp>
      <p:sp>
        <p:nvSpPr>
          <p:cNvPr id="60" name="Rounded Rectangle 59"/>
          <p:cNvSpPr/>
          <p:nvPr/>
        </p:nvSpPr>
        <p:spPr>
          <a:xfrm>
            <a:off x="3197199" y="3218688"/>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98367" y="3099816"/>
            <a:ext cx="5596128" cy="384048"/>
          </a:xfrm>
          <a:prstGeom prst="rect">
            <a:avLst/>
          </a:prstGeom>
          <a:noFill/>
        </p:spPr>
        <p:txBody>
          <a:bodyPr wrap="square" lIns="36576" rIns="36576" tIns="18288" bIns="18288" anchor="t">
            <a:spAutoFit/>
          </a:bodyPr>
          <a:lstStyle/>
          <a:p>
            <a:pPr algn="l"/>
            <a:r>
              <a:rPr sz="1800" b="0">
                <a:solidFill>
                  <a:srgbClr val="EEDEB1"/>
                </a:solidFill>
                <a:latin typeface="Aptos"/>
              </a:rPr>
              <a:t>Cinci sezoane, difuzate între 2008 și 2013</a:t>
            </a:r>
          </a:p>
        </p:txBody>
      </p:sp>
      <p:sp>
        <p:nvSpPr>
          <p:cNvPr id="62" name="Rounded Rectangle 61"/>
          <p:cNvSpPr/>
          <p:nvPr/>
        </p:nvSpPr>
        <p:spPr>
          <a:xfrm>
            <a:off x="3197199" y="3602736"/>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98367" y="3483864"/>
            <a:ext cx="5596128" cy="384048"/>
          </a:xfrm>
          <a:prstGeom prst="rect">
            <a:avLst/>
          </a:prstGeom>
          <a:noFill/>
        </p:spPr>
        <p:txBody>
          <a:bodyPr wrap="square" lIns="36576" rIns="36576" tIns="18288" bIns="18288" anchor="t">
            <a:spAutoFit/>
          </a:bodyPr>
          <a:lstStyle/>
          <a:p>
            <a:pPr algn="l"/>
            <a:r>
              <a:rPr sz="1520" b="0">
                <a:solidFill>
                  <a:srgbClr val="EEDEB1"/>
                </a:solidFill>
                <a:latin typeface="Aptos"/>
              </a:rPr>
              <a:t>Un profesor de chimie își transformă frica de moarte într-o identitate criminală</a:t>
            </a:r>
          </a:p>
        </p:txBody>
      </p:sp>
      <p:sp>
        <p:nvSpPr>
          <p:cNvPr id="64" name="TextBox 63"/>
          <p:cNvSpPr txBox="1"/>
          <p:nvPr/>
        </p:nvSpPr>
        <p:spPr>
          <a:xfrm>
            <a:off x="2346807" y="4645152"/>
            <a:ext cx="7498079" cy="475488"/>
          </a:xfrm>
          <a:prstGeom prst="rect">
            <a:avLst/>
          </a:prstGeom>
          <a:noFill/>
        </p:spPr>
        <p:txBody>
          <a:bodyPr wrap="square" lIns="36576" rIns="36576" tIns="18288" bIns="18288" anchor="t">
            <a:spAutoFit/>
          </a:bodyPr>
          <a:lstStyle/>
          <a:p>
            <a:pPr algn="ctr"/>
            <a:r>
              <a:rPr sz="1520" b="1">
                <a:solidFill>
                  <a:srgbClr val="C69637"/>
                </a:solidFill>
                <a:latin typeface="Georgia"/>
              </a:rPr>
              <a:t>Un serial construit ca o tragedie: fiecare soluție isteață ridică miza scenei următoare.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A08"/>
        </a:solidFill>
        <a:effectLst/>
      </p:bgPr>
    </p:bg>
    <p:spTree>
      <p:nvGrpSpPr>
        <p:cNvPr id="1" name=""/>
        <p:cNvGrpSpPr/>
        <p:nvPr/>
      </p:nvGrpSpPr>
      <p:grpSpPr/>
      <p:pic>
        <p:nvPicPr>
          <p:cNvPr id="2" name="Picture 1" descr="USGS_desert_grassland_nm_red_grade.jpg"/>
          <p:cNvPicPr>
            <a:picLocks noChangeAspect="1"/>
          </p:cNvPicPr>
          <p:nvPr/>
        </p:nvPicPr>
        <p:blipFill>
          <a:blip r:embed="rId2"/>
          <a:stretch>
            <a:fillRect/>
          </a:stretch>
        </p:blipFill>
        <p:spPr>
          <a:xfrm>
            <a:off x="0" y="-616426"/>
            <a:ext cx="12191695" cy="8090852"/>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03</a:t>
            </a:r>
          </a:p>
        </p:txBody>
      </p:sp>
      <p:sp>
        <p:nvSpPr>
          <p:cNvPr id="51" name="TextBox 50"/>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INTRIGĂ</a:t>
            </a:r>
          </a:p>
        </p:txBody>
      </p:sp>
      <p:sp>
        <p:nvSpPr>
          <p:cNvPr id="52" name="TextBox 51"/>
          <p:cNvSpPr txBox="1"/>
          <p:nvPr/>
        </p:nvSpPr>
        <p:spPr>
          <a:xfrm>
            <a:off x="1783080" y="841248"/>
            <a:ext cx="8622792" cy="566928"/>
          </a:xfrm>
          <a:prstGeom prst="rect">
            <a:avLst/>
          </a:prstGeom>
          <a:noFill/>
        </p:spPr>
        <p:txBody>
          <a:bodyPr wrap="none" lIns="36576" rIns="36576" tIns="18288" bIns="18288" anchor="t">
            <a:spAutoFit/>
          </a:bodyPr>
          <a:lstStyle/>
          <a:p>
            <a:pPr algn="ctr"/>
            <a:r>
              <a:rPr sz="3600" b="1">
                <a:solidFill>
                  <a:srgbClr val="EEDEB1"/>
                </a:solidFill>
                <a:latin typeface="Georgia"/>
              </a:rPr>
              <a:t>Plan disperat, identitate criminală</a:t>
            </a:r>
          </a:p>
        </p:txBody>
      </p:sp>
      <p:sp>
        <p:nvSpPr>
          <p:cNvPr id="53" name="Rounded Rectangle 52"/>
          <p:cNvSpPr/>
          <p:nvPr/>
        </p:nvSpPr>
        <p:spPr>
          <a:xfrm>
            <a:off x="2369667" y="1591056"/>
            <a:ext cx="7452360" cy="196596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35427" y="1874519"/>
            <a:ext cx="6720840" cy="1051560"/>
          </a:xfrm>
          <a:prstGeom prst="rect">
            <a:avLst/>
          </a:prstGeom>
          <a:noFill/>
        </p:spPr>
        <p:txBody>
          <a:bodyPr wrap="square" lIns="36576" rIns="36576" tIns="18288" bIns="18288" anchor="t">
            <a:spAutoFit/>
          </a:bodyPr>
          <a:lstStyle/>
          <a:p>
            <a:pPr algn="ctr"/>
            <a:r>
              <a:rPr sz="1650" b="0">
                <a:solidFill>
                  <a:srgbClr val="EEDEB1"/>
                </a:solidFill>
                <a:latin typeface="Aptos"/>
              </a:rPr>
              <a:t>Walter White, un profesor de chimie genial, dar prost plătit, află că are cancer în stadiu terminal și intră în lumea traficului de droguri alături de fostul său elev, Jesse Pinkman. Ce începe ca o încercare de a-și proteja familia devine o poveste despre mândrie, control și prăbușire morală.</a:t>
            </a:r>
          </a:p>
        </p:txBody>
      </p:sp>
      <p:sp>
        <p:nvSpPr>
          <p:cNvPr id="55" name="Rounded Rectangle 54"/>
          <p:cNvSpPr/>
          <p:nvPr/>
        </p:nvSpPr>
        <p:spPr>
          <a:xfrm>
            <a:off x="2621127" y="3977639"/>
            <a:ext cx="1051560" cy="329184"/>
          </a:xfrm>
          <a:prstGeom prst="round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75991" y="4046219"/>
            <a:ext cx="941832" cy="146304"/>
          </a:xfrm>
          <a:prstGeom prst="rect">
            <a:avLst/>
          </a:prstGeom>
          <a:noFill/>
        </p:spPr>
        <p:txBody>
          <a:bodyPr wrap="square" lIns="36576" rIns="36576" tIns="18288" bIns="18288" anchor="t">
            <a:spAutoFit/>
          </a:bodyPr>
          <a:lstStyle/>
          <a:p>
            <a:pPr algn="ctr"/>
            <a:r>
              <a:rPr sz="1050" b="1">
                <a:solidFill>
                  <a:srgbClr val="EEDEB1"/>
                </a:solidFill>
                <a:latin typeface="Aptos"/>
              </a:rPr>
              <a:t>FRICĂ</a:t>
            </a:r>
          </a:p>
        </p:txBody>
      </p:sp>
      <p:sp>
        <p:nvSpPr>
          <p:cNvPr id="57" name="TextBox 56"/>
          <p:cNvSpPr txBox="1"/>
          <p:nvPr/>
        </p:nvSpPr>
        <p:spPr>
          <a:xfrm>
            <a:off x="2273655" y="4416552"/>
            <a:ext cx="1737360" cy="438912"/>
          </a:xfrm>
          <a:prstGeom prst="rect">
            <a:avLst/>
          </a:prstGeom>
          <a:noFill/>
        </p:spPr>
        <p:txBody>
          <a:bodyPr wrap="square" lIns="36576" rIns="36576" tIns="18288" bIns="18288" anchor="t">
            <a:spAutoFit/>
          </a:bodyPr>
          <a:lstStyle/>
          <a:p>
            <a:pPr algn="ctr"/>
            <a:r>
              <a:rPr sz="1250" b="0">
                <a:solidFill>
                  <a:srgbClr val="D3BE88"/>
                </a:solidFill>
                <a:latin typeface="Aptos"/>
              </a:rPr>
              <a:t>Cancerul și promisiunea banilor rapizi</a:t>
            </a:r>
          </a:p>
        </p:txBody>
      </p:sp>
      <p:sp>
        <p:nvSpPr>
          <p:cNvPr id="58" name="Rounded Rectangle 57"/>
          <p:cNvSpPr/>
          <p:nvPr/>
        </p:nvSpPr>
        <p:spPr>
          <a:xfrm>
            <a:off x="4952847" y="3977639"/>
            <a:ext cx="1051560" cy="329184"/>
          </a:xfrm>
          <a:prstGeom prst="round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07711" y="4046219"/>
            <a:ext cx="941832" cy="146304"/>
          </a:xfrm>
          <a:prstGeom prst="rect">
            <a:avLst/>
          </a:prstGeom>
          <a:noFill/>
        </p:spPr>
        <p:txBody>
          <a:bodyPr wrap="square" lIns="36576" rIns="36576" tIns="18288" bIns="18288" anchor="t">
            <a:spAutoFit/>
          </a:bodyPr>
          <a:lstStyle/>
          <a:p>
            <a:pPr algn="ctr"/>
            <a:r>
              <a:rPr sz="950" b="1">
                <a:solidFill>
                  <a:srgbClr val="EEDEB1"/>
                </a:solidFill>
                <a:latin typeface="Aptos"/>
              </a:rPr>
              <a:t>AMBIȚIE</a:t>
            </a:r>
          </a:p>
        </p:txBody>
      </p:sp>
      <p:sp>
        <p:nvSpPr>
          <p:cNvPr id="60" name="TextBox 59"/>
          <p:cNvSpPr txBox="1"/>
          <p:nvPr/>
        </p:nvSpPr>
        <p:spPr>
          <a:xfrm>
            <a:off x="4605375" y="4416552"/>
            <a:ext cx="1737360" cy="438912"/>
          </a:xfrm>
          <a:prstGeom prst="rect">
            <a:avLst/>
          </a:prstGeom>
          <a:noFill/>
        </p:spPr>
        <p:txBody>
          <a:bodyPr wrap="square" lIns="36576" rIns="36576" tIns="18288" bIns="18288" anchor="t">
            <a:spAutoFit/>
          </a:bodyPr>
          <a:lstStyle/>
          <a:p>
            <a:pPr algn="ctr"/>
            <a:r>
              <a:rPr sz="1250" b="0">
                <a:solidFill>
                  <a:srgbClr val="D3BE88"/>
                </a:solidFill>
                <a:latin typeface="Aptos"/>
              </a:rPr>
              <a:t>Talentul devine avantaj, apoi foame de putere</a:t>
            </a:r>
          </a:p>
        </p:txBody>
      </p:sp>
      <p:sp>
        <p:nvSpPr>
          <p:cNvPr id="61" name="Rounded Rectangle 60"/>
          <p:cNvSpPr/>
          <p:nvPr/>
        </p:nvSpPr>
        <p:spPr>
          <a:xfrm>
            <a:off x="7284567" y="3977639"/>
            <a:ext cx="1051560" cy="329184"/>
          </a:xfrm>
          <a:prstGeom prst="round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39431" y="4046219"/>
            <a:ext cx="941832" cy="146304"/>
          </a:xfrm>
          <a:prstGeom prst="rect">
            <a:avLst/>
          </a:prstGeom>
          <a:noFill/>
        </p:spPr>
        <p:txBody>
          <a:bodyPr wrap="square" lIns="36576" rIns="36576" tIns="18288" bIns="18288" anchor="t">
            <a:spAutoFit/>
          </a:bodyPr>
          <a:lstStyle/>
          <a:p>
            <a:pPr algn="ctr"/>
            <a:r>
              <a:rPr sz="950" b="1">
                <a:solidFill>
                  <a:srgbClr val="EEDEB1"/>
                </a:solidFill>
                <a:latin typeface="Aptos"/>
              </a:rPr>
              <a:t>IMPERIU</a:t>
            </a:r>
          </a:p>
        </p:txBody>
      </p:sp>
      <p:sp>
        <p:nvSpPr>
          <p:cNvPr id="63" name="TextBox 62"/>
          <p:cNvSpPr txBox="1"/>
          <p:nvPr/>
        </p:nvSpPr>
        <p:spPr>
          <a:xfrm>
            <a:off x="6937095" y="4416552"/>
            <a:ext cx="1737360" cy="438912"/>
          </a:xfrm>
          <a:prstGeom prst="rect">
            <a:avLst/>
          </a:prstGeom>
          <a:noFill/>
        </p:spPr>
        <p:txBody>
          <a:bodyPr wrap="square" lIns="36576" rIns="36576" tIns="18288" bIns="18288" anchor="t">
            <a:spAutoFit/>
          </a:bodyPr>
          <a:lstStyle/>
          <a:p>
            <a:pPr algn="ctr"/>
            <a:r>
              <a:rPr sz="1250" b="0">
                <a:solidFill>
                  <a:srgbClr val="D3BE88"/>
                </a:solidFill>
                <a:latin typeface="Aptos"/>
              </a:rPr>
              <a:t>Fiecare victorie îl izolează pe Walter și mai mult</a:t>
            </a:r>
          </a:p>
        </p:txBody>
      </p:sp>
      <p:sp>
        <p:nvSpPr>
          <p:cNvPr id="64" name="Rounded Rectangle 63"/>
          <p:cNvSpPr/>
          <p:nvPr/>
        </p:nvSpPr>
        <p:spPr>
          <a:xfrm>
            <a:off x="4742535" y="5251582"/>
            <a:ext cx="2706624" cy="476219"/>
          </a:xfrm>
          <a:prstGeom prst="roundRect">
            <a:avLst/>
          </a:prstGeom>
          <a:solidFill>
            <a:srgbClr val="D3BE8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420641" y="5115519"/>
            <a:ext cx="730788" cy="249448"/>
          </a:xfrm>
          <a:prstGeom prst="rect">
            <a:avLst/>
          </a:prstGeom>
          <a:solidFill>
            <a:srgbClr val="D3BE8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59064" y="5364967"/>
            <a:ext cx="433059" cy="181416"/>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527455" y="5364967"/>
            <a:ext cx="433059" cy="181416"/>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664238" y="5251582"/>
            <a:ext cx="324794" cy="192755"/>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5337992" y="5682447"/>
            <a:ext cx="378927" cy="158739"/>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5446257" y="5727801"/>
            <a:ext cx="162397" cy="68031"/>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772503" y="5682447"/>
            <a:ext cx="378927" cy="158739"/>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880767" y="5727801"/>
            <a:ext cx="162397" cy="68031"/>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00D"/>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04</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PERSONAJE</a:t>
            </a:r>
          </a:p>
        </p:txBody>
      </p:sp>
      <p:sp>
        <p:nvSpPr>
          <p:cNvPr id="50" name="TextBox 49"/>
          <p:cNvSpPr txBox="1"/>
          <p:nvPr/>
        </p:nvSpPr>
        <p:spPr>
          <a:xfrm>
            <a:off x="1999335" y="822960"/>
            <a:ext cx="8193024" cy="566928"/>
          </a:xfrm>
          <a:prstGeom prst="rect">
            <a:avLst/>
          </a:prstGeom>
          <a:noFill/>
        </p:spPr>
        <p:txBody>
          <a:bodyPr wrap="square" lIns="36576" rIns="36576" tIns="18288" bIns="18288" anchor="t">
            <a:spAutoFit/>
          </a:bodyPr>
          <a:lstStyle/>
          <a:p>
            <a:pPr algn="ctr"/>
            <a:r>
              <a:rPr sz="3900" b="1">
                <a:solidFill>
                  <a:srgbClr val="EEDEB1"/>
                </a:solidFill>
                <a:latin typeface="Georgia"/>
              </a:rPr>
              <a:t>Oamenii din mecanism</a:t>
            </a:r>
          </a:p>
        </p:txBody>
      </p:sp>
      <p:sp>
        <p:nvSpPr>
          <p:cNvPr id="51" name="Rounded Rectangle 50"/>
          <p:cNvSpPr/>
          <p:nvPr/>
        </p:nvSpPr>
        <p:spPr>
          <a:xfrm>
            <a:off x="2017623" y="1572768"/>
            <a:ext cx="2487168" cy="440740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182215" y="1755648"/>
            <a:ext cx="2157984" cy="2121408"/>
          </a:xfrm>
          <a:prstGeom prst="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Bryan_Cranston_PaleyFest_2010.jpg"/>
          <p:cNvPicPr>
            <a:picLocks noChangeAspect="1"/>
          </p:cNvPicPr>
          <p:nvPr/>
        </p:nvPicPr>
        <p:blipFill>
          <a:blip r:embed="rId2"/>
          <a:stretch>
            <a:fillRect/>
          </a:stretch>
        </p:blipFill>
        <p:spPr>
          <a:xfrm>
            <a:off x="2486253" y="1783080"/>
            <a:ext cx="1549907" cy="2066543"/>
          </a:xfrm>
          <a:prstGeom prst="rect">
            <a:avLst/>
          </a:prstGeom>
        </p:spPr>
      </p:pic>
      <p:sp>
        <p:nvSpPr>
          <p:cNvPr id="54" name="TextBox 53"/>
          <p:cNvSpPr txBox="1"/>
          <p:nvPr/>
        </p:nvSpPr>
        <p:spPr>
          <a:xfrm>
            <a:off x="2182215" y="4160520"/>
            <a:ext cx="2157984" cy="310896"/>
          </a:xfrm>
          <a:prstGeom prst="rect">
            <a:avLst/>
          </a:prstGeom>
          <a:noFill/>
        </p:spPr>
        <p:txBody>
          <a:bodyPr wrap="square" lIns="36576" rIns="36576" tIns="18288" bIns="18288" anchor="t">
            <a:spAutoFit/>
          </a:bodyPr>
          <a:lstStyle/>
          <a:p>
            <a:pPr algn="ctr"/>
            <a:r>
              <a:rPr sz="2000" b="1">
                <a:solidFill>
                  <a:srgbClr val="EEDEB1"/>
                </a:solidFill>
                <a:latin typeface="Georgia"/>
              </a:rPr>
              <a:t>Walter White</a:t>
            </a:r>
          </a:p>
        </p:txBody>
      </p:sp>
      <p:sp>
        <p:nvSpPr>
          <p:cNvPr id="55" name="TextBox 54"/>
          <p:cNvSpPr txBox="1"/>
          <p:nvPr/>
        </p:nvSpPr>
        <p:spPr>
          <a:xfrm>
            <a:off x="2246223" y="4590288"/>
            <a:ext cx="2029968" cy="694944"/>
          </a:xfrm>
          <a:prstGeom prst="rect">
            <a:avLst/>
          </a:prstGeom>
          <a:noFill/>
        </p:spPr>
        <p:txBody>
          <a:bodyPr wrap="square" lIns="36576" rIns="36576" tIns="18288" bIns="18288" anchor="t">
            <a:spAutoFit/>
          </a:bodyPr>
          <a:lstStyle/>
          <a:p>
            <a:pPr algn="ctr"/>
            <a:r>
              <a:rPr sz="1320" b="0">
                <a:solidFill>
                  <a:srgbClr val="D3BE88"/>
                </a:solidFill>
                <a:latin typeface="Aptos"/>
              </a:rPr>
              <a:t>Mândrie mascată ca responsabilitate</a:t>
            </a:r>
          </a:p>
        </p:txBody>
      </p:sp>
      <p:sp>
        <p:nvSpPr>
          <p:cNvPr id="56" name="Rounded Rectangle 55"/>
          <p:cNvSpPr/>
          <p:nvPr/>
        </p:nvSpPr>
        <p:spPr>
          <a:xfrm>
            <a:off x="4852263" y="1572768"/>
            <a:ext cx="2487168" cy="440740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016855" y="1755648"/>
            <a:ext cx="2157984" cy="2121408"/>
          </a:xfrm>
          <a:prstGeom prst="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Aaron_Paul_at_the_68th_Annual_Peabody_Awards_for_Breaking_Bad.jpg"/>
          <p:cNvPicPr>
            <a:picLocks noChangeAspect="1"/>
          </p:cNvPicPr>
          <p:nvPr/>
        </p:nvPicPr>
        <p:blipFill>
          <a:blip r:embed="rId3"/>
          <a:stretch>
            <a:fillRect/>
          </a:stretch>
        </p:blipFill>
        <p:spPr>
          <a:xfrm>
            <a:off x="5408431" y="1783080"/>
            <a:ext cx="1374831" cy="2066543"/>
          </a:xfrm>
          <a:prstGeom prst="rect">
            <a:avLst/>
          </a:prstGeom>
        </p:spPr>
      </p:pic>
      <p:sp>
        <p:nvSpPr>
          <p:cNvPr id="59" name="TextBox 58"/>
          <p:cNvSpPr txBox="1"/>
          <p:nvPr/>
        </p:nvSpPr>
        <p:spPr>
          <a:xfrm>
            <a:off x="5016855" y="4160520"/>
            <a:ext cx="2157984" cy="310896"/>
          </a:xfrm>
          <a:prstGeom prst="rect">
            <a:avLst/>
          </a:prstGeom>
          <a:noFill/>
        </p:spPr>
        <p:txBody>
          <a:bodyPr wrap="square" lIns="36576" rIns="36576" tIns="18288" bIns="18288" anchor="t">
            <a:spAutoFit/>
          </a:bodyPr>
          <a:lstStyle/>
          <a:p>
            <a:pPr algn="ctr"/>
            <a:r>
              <a:rPr sz="2000" b="1">
                <a:solidFill>
                  <a:srgbClr val="EEDEB1"/>
                </a:solidFill>
                <a:latin typeface="Georgia"/>
              </a:rPr>
              <a:t>Jesse Pinkman</a:t>
            </a:r>
          </a:p>
        </p:txBody>
      </p:sp>
      <p:sp>
        <p:nvSpPr>
          <p:cNvPr id="60" name="TextBox 59"/>
          <p:cNvSpPr txBox="1"/>
          <p:nvPr/>
        </p:nvSpPr>
        <p:spPr>
          <a:xfrm>
            <a:off x="5080863" y="4590288"/>
            <a:ext cx="2029968" cy="694944"/>
          </a:xfrm>
          <a:prstGeom prst="rect">
            <a:avLst/>
          </a:prstGeom>
          <a:noFill/>
        </p:spPr>
        <p:txBody>
          <a:bodyPr wrap="square" lIns="36576" rIns="36576" tIns="18288" bIns="18288" anchor="t">
            <a:spAutoFit/>
          </a:bodyPr>
          <a:lstStyle/>
          <a:p>
            <a:pPr algn="ctr"/>
            <a:r>
              <a:rPr sz="1320" b="0">
                <a:solidFill>
                  <a:srgbClr val="D3BE88"/>
                </a:solidFill>
                <a:latin typeface="Aptos"/>
              </a:rPr>
              <a:t>Conștiință prinsă în unda de șoc</a:t>
            </a:r>
          </a:p>
        </p:txBody>
      </p:sp>
      <p:sp>
        <p:nvSpPr>
          <p:cNvPr id="61" name="Rounded Rectangle 60"/>
          <p:cNvSpPr/>
          <p:nvPr/>
        </p:nvSpPr>
        <p:spPr>
          <a:xfrm>
            <a:off x="7686903" y="1572768"/>
            <a:ext cx="2487168" cy="440740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851495" y="1755648"/>
            <a:ext cx="2157984" cy="2121408"/>
          </a:xfrm>
          <a:prstGeom prst="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253831" y="2057400"/>
            <a:ext cx="713232" cy="713232"/>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99551" y="2103120"/>
            <a:ext cx="201168" cy="109728"/>
          </a:xfrm>
          <a:prstGeom prst="rect">
            <a:avLst/>
          </a:prstGeom>
          <a:noFill/>
        </p:spPr>
        <p:txBody>
          <a:bodyPr wrap="square" lIns="36576" rIns="36576" tIns="18288" bIns="18288" anchor="t">
            <a:spAutoFit/>
          </a:bodyPr>
          <a:lstStyle/>
          <a:p>
            <a:pPr algn="l"/>
            <a:r>
              <a:rPr sz="650" b="0">
                <a:solidFill>
                  <a:srgbClr val="D3BE88"/>
                </a:solidFill>
                <a:latin typeface="Aptos"/>
              </a:rPr>
              <a:t>35</a:t>
            </a:r>
          </a:p>
        </p:txBody>
      </p:sp>
      <p:sp>
        <p:nvSpPr>
          <p:cNvPr id="65" name="TextBox 64"/>
          <p:cNvSpPr txBox="1"/>
          <p:nvPr/>
        </p:nvSpPr>
        <p:spPr>
          <a:xfrm>
            <a:off x="8253831" y="2221992"/>
            <a:ext cx="713232" cy="310896"/>
          </a:xfrm>
          <a:prstGeom prst="rect">
            <a:avLst/>
          </a:prstGeom>
          <a:noFill/>
        </p:spPr>
        <p:txBody>
          <a:bodyPr wrap="square" lIns="36576" rIns="36576" tIns="18288" bIns="18288" anchor="t">
            <a:spAutoFit/>
          </a:bodyPr>
          <a:lstStyle/>
          <a:p>
            <a:pPr algn="ctr"/>
            <a:r>
              <a:rPr sz="2300" b="1">
                <a:solidFill>
                  <a:srgbClr val="EEDEB1"/>
                </a:solidFill>
                <a:latin typeface="Georgia"/>
              </a:rPr>
              <a:t>Br</a:t>
            </a:r>
          </a:p>
        </p:txBody>
      </p:sp>
      <p:sp>
        <p:nvSpPr>
          <p:cNvPr id="66" name="Rectangle 65"/>
          <p:cNvSpPr/>
          <p:nvPr/>
        </p:nvSpPr>
        <p:spPr>
          <a:xfrm>
            <a:off x="9186519" y="2057400"/>
            <a:ext cx="713232" cy="713232"/>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32239" y="2103120"/>
            <a:ext cx="201168" cy="109728"/>
          </a:xfrm>
          <a:prstGeom prst="rect">
            <a:avLst/>
          </a:prstGeom>
          <a:noFill/>
        </p:spPr>
        <p:txBody>
          <a:bodyPr wrap="square" lIns="36576" rIns="36576" tIns="18288" bIns="18288" anchor="t">
            <a:spAutoFit/>
          </a:bodyPr>
          <a:lstStyle/>
          <a:p>
            <a:pPr algn="l"/>
            <a:r>
              <a:rPr sz="650" b="0">
                <a:solidFill>
                  <a:srgbClr val="D3BE88"/>
                </a:solidFill>
                <a:latin typeface="Aptos"/>
              </a:rPr>
              <a:t>56</a:t>
            </a:r>
          </a:p>
        </p:txBody>
      </p:sp>
      <p:sp>
        <p:nvSpPr>
          <p:cNvPr id="68" name="TextBox 67"/>
          <p:cNvSpPr txBox="1"/>
          <p:nvPr/>
        </p:nvSpPr>
        <p:spPr>
          <a:xfrm>
            <a:off x="9186519" y="2221992"/>
            <a:ext cx="713232" cy="310896"/>
          </a:xfrm>
          <a:prstGeom prst="rect">
            <a:avLst/>
          </a:prstGeom>
          <a:noFill/>
        </p:spPr>
        <p:txBody>
          <a:bodyPr wrap="square" lIns="36576" rIns="36576" tIns="18288" bIns="18288" anchor="t">
            <a:spAutoFit/>
          </a:bodyPr>
          <a:lstStyle/>
          <a:p>
            <a:pPr algn="ctr"/>
            <a:r>
              <a:rPr sz="2300" b="1">
                <a:solidFill>
                  <a:srgbClr val="EEDEB1"/>
                </a:solidFill>
                <a:latin typeface="Georgia"/>
              </a:rPr>
              <a:t>Ba</a:t>
            </a:r>
          </a:p>
        </p:txBody>
      </p:sp>
      <p:sp>
        <p:nvSpPr>
          <p:cNvPr id="69" name="Rounded Rectangle 68"/>
          <p:cNvSpPr/>
          <p:nvPr/>
        </p:nvSpPr>
        <p:spPr>
          <a:xfrm>
            <a:off x="8473287" y="3172968"/>
            <a:ext cx="914400" cy="82296"/>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701887" y="2953512"/>
            <a:ext cx="457200" cy="260604"/>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729319" y="3166110"/>
            <a:ext cx="402336" cy="54864"/>
          </a:xfrm>
          <a:prstGeom prst="rect">
            <a:avLst/>
          </a:prstGeom>
          <a:solidFill>
            <a:srgbClr val="8014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851495" y="4160520"/>
            <a:ext cx="2157984" cy="310896"/>
          </a:xfrm>
          <a:prstGeom prst="rect">
            <a:avLst/>
          </a:prstGeom>
          <a:noFill/>
        </p:spPr>
        <p:txBody>
          <a:bodyPr wrap="square" lIns="36576" rIns="36576" tIns="18288" bIns="18288" anchor="t">
            <a:spAutoFit/>
          </a:bodyPr>
          <a:lstStyle/>
          <a:p>
            <a:pPr algn="ctr"/>
            <a:r>
              <a:rPr sz="2000" b="1">
                <a:solidFill>
                  <a:srgbClr val="EEDEB1"/>
                </a:solidFill>
                <a:latin typeface="Georgia"/>
              </a:rPr>
              <a:t>Cei din jur</a:t>
            </a:r>
          </a:p>
        </p:txBody>
      </p:sp>
      <p:sp>
        <p:nvSpPr>
          <p:cNvPr id="73" name="TextBox 72"/>
          <p:cNvSpPr txBox="1"/>
          <p:nvPr/>
        </p:nvSpPr>
        <p:spPr>
          <a:xfrm>
            <a:off x="7915503" y="4590288"/>
            <a:ext cx="2029968" cy="694944"/>
          </a:xfrm>
          <a:prstGeom prst="rect">
            <a:avLst/>
          </a:prstGeom>
          <a:noFill/>
        </p:spPr>
        <p:txBody>
          <a:bodyPr wrap="square" lIns="36576" rIns="36576" tIns="18288" bIns="18288" anchor="t">
            <a:spAutoFit/>
          </a:bodyPr>
          <a:lstStyle/>
          <a:p>
            <a:pPr algn="ctr"/>
            <a:r>
              <a:rPr sz="1200" b="0">
                <a:solidFill>
                  <a:srgbClr val="D3BE88"/>
                </a:solidFill>
                <a:latin typeface="Aptos"/>
              </a:rPr>
              <a:t>Skyler, Hank, Gus, Saul și Mike forțează fiecare minciună să iasă la suprafață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A08"/>
        </a:solidFill>
        <a:effectLst/>
      </p:bgPr>
    </p:bg>
    <p:spTree>
      <p:nvGrpSpPr>
        <p:cNvPr id="1" name=""/>
        <p:cNvGrpSpPr/>
        <p:nvPr/>
      </p:nvGrpSpPr>
      <p:grpSpPr/>
      <p:pic>
        <p:nvPicPr>
          <p:cNvPr id="2" name="Picture 1" descr="Bryan_Cranston_PaleyFest_2010_red_grade.jpg"/>
          <p:cNvPicPr>
            <a:picLocks noChangeAspect="1"/>
          </p:cNvPicPr>
          <p:nvPr/>
        </p:nvPicPr>
        <p:blipFill>
          <a:blip r:embed="rId2"/>
          <a:stretch>
            <a:fillRect/>
          </a:stretch>
        </p:blipFill>
        <p:spPr>
          <a:xfrm>
            <a:off x="0" y="-4698796"/>
            <a:ext cx="12191695" cy="16255593"/>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05</a:t>
            </a:r>
          </a:p>
        </p:txBody>
      </p:sp>
      <p:sp>
        <p:nvSpPr>
          <p:cNvPr id="51" name="TextBox 50"/>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ARC DE PERSONAJ</a:t>
            </a:r>
          </a:p>
        </p:txBody>
      </p:sp>
      <p:sp>
        <p:nvSpPr>
          <p:cNvPr id="52" name="TextBox 51"/>
          <p:cNvSpPr txBox="1"/>
          <p:nvPr/>
        </p:nvSpPr>
        <p:spPr>
          <a:xfrm>
            <a:off x="1783080" y="841248"/>
            <a:ext cx="8622792" cy="566928"/>
          </a:xfrm>
          <a:prstGeom prst="rect">
            <a:avLst/>
          </a:prstGeom>
          <a:noFill/>
        </p:spPr>
        <p:txBody>
          <a:bodyPr wrap="none" lIns="36576" rIns="36576" tIns="18288" bIns="18288" anchor="t">
            <a:spAutoFit/>
          </a:bodyPr>
          <a:lstStyle/>
          <a:p>
            <a:pPr algn="ctr"/>
            <a:r>
              <a:rPr sz="4000" b="1">
                <a:solidFill>
                  <a:srgbClr val="EEDEB1"/>
                </a:solidFill>
                <a:latin typeface="Georgia"/>
              </a:rPr>
              <a:t>Walter devine Heisenberg</a:t>
            </a:r>
          </a:p>
        </p:txBody>
      </p:sp>
      <p:sp>
        <p:nvSpPr>
          <p:cNvPr id="53" name="Rounded Rectangle 52"/>
          <p:cNvSpPr/>
          <p:nvPr/>
        </p:nvSpPr>
        <p:spPr>
          <a:xfrm>
            <a:off x="2209647" y="1572768"/>
            <a:ext cx="3840480" cy="434340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538831" y="3346704"/>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2538831" y="3822191"/>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2538831" y="4297680"/>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538831" y="4773168"/>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6873087" y="1572768"/>
            <a:ext cx="3063240" cy="434340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Bryan_Cranston_PaleyFest_2010.jpg"/>
          <p:cNvPicPr>
            <a:picLocks noChangeAspect="1"/>
          </p:cNvPicPr>
          <p:nvPr/>
        </p:nvPicPr>
        <p:blipFill>
          <a:blip r:embed="rId3"/>
          <a:stretch>
            <a:fillRect/>
          </a:stretch>
        </p:blipFill>
        <p:spPr>
          <a:xfrm>
            <a:off x="7363434" y="1847088"/>
            <a:ext cx="2091690" cy="2788920"/>
          </a:xfrm>
          <a:prstGeom prst="rect">
            <a:avLst/>
          </a:prstGeom>
        </p:spPr>
      </p:pic>
      <p:sp>
        <p:nvSpPr>
          <p:cNvPr id="69" name="TextBox 68"/>
          <p:cNvSpPr txBox="1"/>
          <p:nvPr/>
        </p:nvSpPr>
        <p:spPr>
          <a:xfrm>
            <a:off x="7147407" y="4892040"/>
            <a:ext cx="2514600" cy="493776"/>
          </a:xfrm>
          <a:prstGeom prst="rect">
            <a:avLst/>
          </a:prstGeom>
          <a:noFill/>
        </p:spPr>
        <p:txBody>
          <a:bodyPr wrap="square" lIns="36576" rIns="36576" tIns="18288" bIns="18288" anchor="t">
            <a:spAutoFit/>
          </a:bodyPr>
          <a:lstStyle/>
          <a:p>
            <a:pPr algn="ctr"/>
            <a:r>
              <a:rPr sz="1450" b="1">
                <a:solidFill>
                  <a:srgbClr val="C69637"/>
                </a:solidFill>
                <a:latin typeface="Georgia"/>
              </a:rPr>
              <a:t>Un nume devine rol; rolul devine singurul loc în care mai poate trăi.</a:t>
            </a:r>
          </a:p>
        </p:txBody>
      </p:sp>
      <p:sp>
        <p:nvSpPr>
          <p:cNvPr id="70" name="Rounded Rectangle 69"/>
          <p:cNvSpPr/>
          <p:nvPr/>
        </p:nvSpPr>
        <p:spPr>
          <a:xfrm>
            <a:off x="2209647" y="1572768"/>
            <a:ext cx="3840480" cy="434340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557119" y="1920240"/>
            <a:ext cx="3145536" cy="932688"/>
          </a:xfrm>
          <a:prstGeom prst="rect">
            <a:avLst/>
          </a:prstGeom>
          <a:noFill/>
        </p:spPr>
        <p:txBody>
          <a:bodyPr wrap="square" lIns="36576" rIns="36576" tIns="18288" bIns="18288" anchor="t">
            <a:spAutoFit/>
          </a:bodyPr>
          <a:lstStyle/>
          <a:p>
            <a:pPr algn="ctr"/>
            <a:r>
              <a:rPr sz="1520" b="0">
                <a:solidFill>
                  <a:srgbClr val="EEDEB1"/>
                </a:solidFill>
                <a:latin typeface="Aptos"/>
              </a:rPr>
              <a:t>Transformarea e treptată: câte un compromis, câte o scuză, câte o răsplată. Heisenberg începe ca o armură și ajunge alegerea lui Walter.</a:t>
            </a:r>
          </a:p>
        </p:txBody>
      </p:sp>
      <p:sp>
        <p:nvSpPr>
          <p:cNvPr id="72" name="Rounded Rectangle 71"/>
          <p:cNvSpPr/>
          <p:nvPr/>
        </p:nvSpPr>
        <p:spPr>
          <a:xfrm>
            <a:off x="2648559" y="3218688"/>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31439" y="3127248"/>
            <a:ext cx="2926080" cy="237744"/>
          </a:xfrm>
          <a:prstGeom prst="rect">
            <a:avLst/>
          </a:prstGeom>
          <a:noFill/>
        </p:spPr>
        <p:txBody>
          <a:bodyPr wrap="square" lIns="36576" rIns="36576" tIns="18288" bIns="18288" anchor="t">
            <a:spAutoFit/>
          </a:bodyPr>
          <a:lstStyle/>
          <a:p>
            <a:pPr algn="l"/>
            <a:r>
              <a:rPr sz="1320" b="0">
                <a:solidFill>
                  <a:srgbClr val="D3BE88"/>
                </a:solidFill>
                <a:latin typeface="Aptos"/>
              </a:rPr>
              <a:t>Frică - boală, moarte, bani</a:t>
            </a:r>
          </a:p>
        </p:txBody>
      </p:sp>
      <p:sp>
        <p:nvSpPr>
          <p:cNvPr id="74" name="Rounded Rectangle 73"/>
          <p:cNvSpPr/>
          <p:nvPr/>
        </p:nvSpPr>
        <p:spPr>
          <a:xfrm>
            <a:off x="2648559" y="3703320"/>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31439" y="3611880"/>
            <a:ext cx="2926080" cy="237744"/>
          </a:xfrm>
          <a:prstGeom prst="rect">
            <a:avLst/>
          </a:prstGeom>
          <a:noFill/>
        </p:spPr>
        <p:txBody>
          <a:bodyPr wrap="square" lIns="36576" rIns="36576" tIns="18288" bIns="18288" anchor="t">
            <a:spAutoFit/>
          </a:bodyPr>
          <a:lstStyle/>
          <a:p>
            <a:pPr algn="l"/>
            <a:r>
              <a:rPr sz="1320" b="0">
                <a:solidFill>
                  <a:srgbClr val="D3BE88"/>
                </a:solidFill>
                <a:latin typeface="Aptos"/>
              </a:rPr>
              <a:t>Talent - chimia îi dă putere</a:t>
            </a:r>
          </a:p>
        </p:txBody>
      </p:sp>
      <p:sp>
        <p:nvSpPr>
          <p:cNvPr id="76" name="Rounded Rectangle 75"/>
          <p:cNvSpPr/>
          <p:nvPr/>
        </p:nvSpPr>
        <p:spPr>
          <a:xfrm>
            <a:off x="2648559" y="418795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1439" y="4096512"/>
            <a:ext cx="2926080" cy="237744"/>
          </a:xfrm>
          <a:prstGeom prst="rect">
            <a:avLst/>
          </a:prstGeom>
          <a:noFill/>
        </p:spPr>
        <p:txBody>
          <a:bodyPr wrap="square" lIns="36576" rIns="36576" tIns="18288" bIns="18288" anchor="t">
            <a:spAutoFit/>
          </a:bodyPr>
          <a:lstStyle/>
          <a:p>
            <a:pPr algn="l"/>
            <a:r>
              <a:rPr sz="1320" b="0">
                <a:solidFill>
                  <a:srgbClr val="D3BE88"/>
                </a:solidFill>
                <a:latin typeface="Aptos"/>
              </a:rPr>
              <a:t>Respect - recunoașterea devine dependență</a:t>
            </a:r>
          </a:p>
        </p:txBody>
      </p:sp>
      <p:sp>
        <p:nvSpPr>
          <p:cNvPr id="78" name="Rounded Rectangle 77"/>
          <p:cNvSpPr/>
          <p:nvPr/>
        </p:nvSpPr>
        <p:spPr>
          <a:xfrm>
            <a:off x="2648559" y="4672584"/>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31439" y="4581144"/>
            <a:ext cx="2926080" cy="237744"/>
          </a:xfrm>
          <a:prstGeom prst="rect">
            <a:avLst/>
          </a:prstGeom>
          <a:noFill/>
        </p:spPr>
        <p:txBody>
          <a:bodyPr wrap="square" lIns="36576" rIns="36576" tIns="18288" bIns="18288" anchor="t">
            <a:spAutoFit/>
          </a:bodyPr>
          <a:lstStyle/>
          <a:p>
            <a:pPr algn="l"/>
            <a:r>
              <a:rPr sz="1320" b="0">
                <a:solidFill>
                  <a:srgbClr val="D3BE88"/>
                </a:solidFill>
                <a:latin typeface="Aptos"/>
              </a:rPr>
              <a:t>Control - masca e tot mai ușor de purtat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580B0F"/>
        </a:solidFill>
        <a:effectLst/>
      </p:bgPr>
    </p:bg>
    <p:spTree>
      <p:nvGrpSpPr>
        <p:cNvPr id="1" name=""/>
        <p:cNvGrpSpPr/>
        <p:nvPr/>
      </p:nvGrpSpPr>
      <p:grpSpPr/>
      <p:pic>
        <p:nvPicPr>
          <p:cNvPr id="2" name="Picture 1" descr="Breaking_Bad_gas_mask_red_grade.jpg"/>
          <p:cNvPicPr>
            <a:picLocks noChangeAspect="1"/>
          </p:cNvPicPr>
          <p:nvPr/>
        </p:nvPicPr>
        <p:blipFill>
          <a:blip r:embed="rId2"/>
          <a:stretch>
            <a:fillRect/>
          </a:stretch>
        </p:blipFill>
        <p:spPr>
          <a:xfrm>
            <a:off x="0" y="-5467127"/>
            <a:ext cx="12191695" cy="17792254"/>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06</a:t>
            </a:r>
          </a:p>
        </p:txBody>
      </p:sp>
      <p:sp>
        <p:nvSpPr>
          <p:cNvPr id="51" name="TextBox 50"/>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LIMBAJ VIZUAL</a:t>
            </a:r>
          </a:p>
        </p:txBody>
      </p:sp>
      <p:sp>
        <p:nvSpPr>
          <p:cNvPr id="52" name="TextBox 51"/>
          <p:cNvSpPr txBox="1"/>
          <p:nvPr/>
        </p:nvSpPr>
        <p:spPr>
          <a:xfrm>
            <a:off x="1999335" y="822960"/>
            <a:ext cx="8193024" cy="566928"/>
          </a:xfrm>
          <a:prstGeom prst="rect">
            <a:avLst/>
          </a:prstGeom>
          <a:noFill/>
        </p:spPr>
        <p:txBody>
          <a:bodyPr wrap="square" lIns="36576" rIns="36576" tIns="18288" bIns="18288" anchor="t">
            <a:spAutoFit/>
          </a:bodyPr>
          <a:lstStyle/>
          <a:p>
            <a:pPr algn="ctr"/>
            <a:r>
              <a:rPr sz="3800" b="1">
                <a:solidFill>
                  <a:srgbClr val="EEDEB1"/>
                </a:solidFill>
                <a:latin typeface="Georgia"/>
              </a:rPr>
              <a:t>Arșiță, chimie și umbre</a:t>
            </a:r>
          </a:p>
        </p:txBody>
      </p:sp>
      <p:sp>
        <p:nvSpPr>
          <p:cNvPr id="53" name="TextBox 52"/>
          <p:cNvSpPr txBox="1"/>
          <p:nvPr/>
        </p:nvSpPr>
        <p:spPr>
          <a:xfrm>
            <a:off x="2483967" y="1600200"/>
            <a:ext cx="7223760" cy="932688"/>
          </a:xfrm>
          <a:prstGeom prst="rect">
            <a:avLst/>
          </a:prstGeom>
          <a:noFill/>
        </p:spPr>
        <p:txBody>
          <a:bodyPr wrap="square" lIns="36576" rIns="36576" tIns="18288" bIns="18288" anchor="t">
            <a:spAutoFit/>
          </a:bodyPr>
          <a:lstStyle/>
          <a:p>
            <a:pPr algn="ctr"/>
            <a:r>
              <a:rPr sz="1550" b="0">
                <a:solidFill>
                  <a:srgbClr val="EEDEB1"/>
                </a:solidFill>
                <a:latin typeface="Aptos"/>
              </a:rPr>
              <a:t>Breaking Bad arată ca un western ars de soare intrat într-un laborator de chimie. Serialul revine mereu la deșert, spații domestice apăsătoare și obiecte care transformă viața de zi cu zi în probe.</a:t>
            </a:r>
          </a:p>
        </p:txBody>
      </p:sp>
      <p:sp>
        <p:nvSpPr>
          <p:cNvPr id="54" name="Rectangle 53"/>
          <p:cNvSpPr/>
          <p:nvPr/>
        </p:nvSpPr>
        <p:spPr>
          <a:xfrm>
            <a:off x="3398367" y="2907792"/>
            <a:ext cx="749808" cy="749808"/>
          </a:xfrm>
          <a:prstGeom prst="rect">
            <a:avLst/>
          </a:prstGeom>
          <a:solidFill>
            <a:srgbClr val="C69637"/>
          </a:solidFill>
          <a:ln w="12700">
            <a:solidFill>
              <a:srgbClr val="EED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70351" y="3776472"/>
            <a:ext cx="1005840" cy="201168"/>
          </a:xfrm>
          <a:prstGeom prst="rect">
            <a:avLst/>
          </a:prstGeom>
          <a:noFill/>
        </p:spPr>
        <p:txBody>
          <a:bodyPr wrap="square" lIns="36576" rIns="36576" tIns="18288" bIns="18288" anchor="t">
            <a:spAutoFit/>
          </a:bodyPr>
          <a:lstStyle/>
          <a:p>
            <a:pPr algn="ctr"/>
            <a:r>
              <a:rPr sz="900" b="0">
                <a:solidFill>
                  <a:srgbClr val="EEDEB1"/>
                </a:solidFill>
                <a:latin typeface="Aptos"/>
              </a:rPr>
              <a:t>Deșert</a:t>
            </a:r>
          </a:p>
        </p:txBody>
      </p:sp>
      <p:sp>
        <p:nvSpPr>
          <p:cNvPr id="56" name="Rectangle 55"/>
          <p:cNvSpPr/>
          <p:nvPr/>
        </p:nvSpPr>
        <p:spPr>
          <a:xfrm>
            <a:off x="4477359" y="2907792"/>
            <a:ext cx="749808" cy="749808"/>
          </a:xfrm>
          <a:prstGeom prst="rect">
            <a:avLst/>
          </a:prstGeom>
          <a:solidFill>
            <a:srgbClr val="12523A"/>
          </a:solidFill>
          <a:ln w="12700">
            <a:solidFill>
              <a:srgbClr val="EED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49343" y="3776472"/>
            <a:ext cx="1005840" cy="201168"/>
          </a:xfrm>
          <a:prstGeom prst="rect">
            <a:avLst/>
          </a:prstGeom>
          <a:noFill/>
        </p:spPr>
        <p:txBody>
          <a:bodyPr wrap="square" lIns="36576" rIns="36576" tIns="18288" bIns="18288" anchor="t">
            <a:spAutoFit/>
          </a:bodyPr>
          <a:lstStyle/>
          <a:p>
            <a:pPr algn="ctr"/>
            <a:r>
              <a:rPr sz="900" b="0">
                <a:solidFill>
                  <a:srgbClr val="EEDEB1"/>
                </a:solidFill>
                <a:latin typeface="Aptos"/>
              </a:rPr>
              <a:t>Verde</a:t>
            </a:r>
          </a:p>
        </p:txBody>
      </p:sp>
      <p:sp>
        <p:nvSpPr>
          <p:cNvPr id="58" name="Rectangle 57"/>
          <p:cNvSpPr/>
          <p:nvPr/>
        </p:nvSpPr>
        <p:spPr>
          <a:xfrm>
            <a:off x="5556351" y="2907792"/>
            <a:ext cx="749808" cy="749808"/>
          </a:xfrm>
          <a:prstGeom prst="rect">
            <a:avLst/>
          </a:prstGeom>
          <a:solidFill>
            <a:srgbClr val="801416"/>
          </a:solidFill>
          <a:ln w="12700">
            <a:solidFill>
              <a:srgbClr val="EED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28335" y="3776472"/>
            <a:ext cx="1005840" cy="201168"/>
          </a:xfrm>
          <a:prstGeom prst="rect">
            <a:avLst/>
          </a:prstGeom>
          <a:noFill/>
        </p:spPr>
        <p:txBody>
          <a:bodyPr wrap="square" lIns="36576" rIns="36576" tIns="18288" bIns="18288" anchor="t">
            <a:spAutoFit/>
          </a:bodyPr>
          <a:lstStyle/>
          <a:p>
            <a:pPr algn="ctr"/>
            <a:r>
              <a:rPr sz="900" b="0">
                <a:solidFill>
                  <a:srgbClr val="EEDEB1"/>
                </a:solidFill>
                <a:latin typeface="Aptos"/>
              </a:rPr>
              <a:t>Roșu Cinema</a:t>
            </a:r>
          </a:p>
        </p:txBody>
      </p:sp>
      <p:sp>
        <p:nvSpPr>
          <p:cNvPr id="60" name="Rectangle 59"/>
          <p:cNvSpPr/>
          <p:nvPr/>
        </p:nvSpPr>
        <p:spPr>
          <a:xfrm>
            <a:off x="6635343" y="2907792"/>
            <a:ext cx="749808" cy="749808"/>
          </a:xfrm>
          <a:prstGeom prst="rect">
            <a:avLst/>
          </a:prstGeom>
          <a:solidFill>
            <a:srgbClr val="0D0A08"/>
          </a:solidFill>
          <a:ln w="12700">
            <a:solidFill>
              <a:srgbClr val="EED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07327" y="3776472"/>
            <a:ext cx="1005840" cy="201168"/>
          </a:xfrm>
          <a:prstGeom prst="rect">
            <a:avLst/>
          </a:prstGeom>
          <a:noFill/>
        </p:spPr>
        <p:txBody>
          <a:bodyPr wrap="square" lIns="36576" rIns="36576" tIns="18288" bIns="18288" anchor="t">
            <a:spAutoFit/>
          </a:bodyPr>
          <a:lstStyle/>
          <a:p>
            <a:pPr algn="ctr"/>
            <a:r>
              <a:rPr sz="900" b="0">
                <a:solidFill>
                  <a:srgbClr val="EEDEB1"/>
                </a:solidFill>
                <a:latin typeface="Aptos"/>
              </a:rPr>
              <a:t>Negru</a:t>
            </a:r>
          </a:p>
        </p:txBody>
      </p:sp>
      <p:sp>
        <p:nvSpPr>
          <p:cNvPr id="62" name="Rectangle 61"/>
          <p:cNvSpPr/>
          <p:nvPr/>
        </p:nvSpPr>
        <p:spPr>
          <a:xfrm>
            <a:off x="7714335" y="2907792"/>
            <a:ext cx="749808" cy="749808"/>
          </a:xfrm>
          <a:prstGeom prst="rect">
            <a:avLst/>
          </a:prstGeom>
          <a:solidFill>
            <a:srgbClr val="40B0BF"/>
          </a:solidFill>
          <a:ln w="12700">
            <a:solidFill>
              <a:srgbClr val="EED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86319" y="3776472"/>
            <a:ext cx="1005840" cy="201168"/>
          </a:xfrm>
          <a:prstGeom prst="rect">
            <a:avLst/>
          </a:prstGeom>
          <a:noFill/>
        </p:spPr>
        <p:txBody>
          <a:bodyPr wrap="square" lIns="36576" rIns="36576" tIns="18288" bIns="18288" anchor="t">
            <a:spAutoFit/>
          </a:bodyPr>
          <a:lstStyle/>
          <a:p>
            <a:pPr algn="ctr"/>
            <a:r>
              <a:rPr sz="900" b="0">
                <a:solidFill>
                  <a:srgbClr val="EEDEB1"/>
                </a:solidFill>
                <a:latin typeface="Aptos"/>
              </a:rPr>
              <a:t>Albastru</a:t>
            </a:r>
          </a:p>
        </p:txBody>
      </p:sp>
      <p:sp>
        <p:nvSpPr>
          <p:cNvPr id="64" name="Rounded Rectangle 63"/>
          <p:cNvSpPr/>
          <p:nvPr/>
        </p:nvSpPr>
        <p:spPr>
          <a:xfrm>
            <a:off x="2643987" y="4343400"/>
            <a:ext cx="6903720" cy="114300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3055467" y="469087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6635" y="4572000"/>
            <a:ext cx="5879592" cy="274320"/>
          </a:xfrm>
          <a:prstGeom prst="rect">
            <a:avLst/>
          </a:prstGeom>
          <a:noFill/>
        </p:spPr>
        <p:txBody>
          <a:bodyPr wrap="square" lIns="36576" rIns="36576" tIns="18288" bIns="18288" anchor="t">
            <a:spAutoFit/>
          </a:bodyPr>
          <a:lstStyle/>
          <a:p>
            <a:pPr algn="l"/>
            <a:r>
              <a:rPr sz="1350" b="0">
                <a:solidFill>
                  <a:srgbClr val="EEDEB1"/>
                </a:solidFill>
                <a:latin typeface="Aptos"/>
              </a:rPr>
              <a:t>Deșertul larg face deciziile mici să pară expuse.</a:t>
            </a:r>
          </a:p>
        </p:txBody>
      </p:sp>
      <p:sp>
        <p:nvSpPr>
          <p:cNvPr id="67" name="Rounded Rectangle 66"/>
          <p:cNvSpPr/>
          <p:nvPr/>
        </p:nvSpPr>
        <p:spPr>
          <a:xfrm>
            <a:off x="3055467" y="496519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56635" y="4846320"/>
            <a:ext cx="5879592" cy="274320"/>
          </a:xfrm>
          <a:prstGeom prst="rect">
            <a:avLst/>
          </a:prstGeom>
          <a:noFill/>
        </p:spPr>
        <p:txBody>
          <a:bodyPr wrap="square" lIns="36576" rIns="36576" tIns="18288" bIns="18288" anchor="t">
            <a:spAutoFit/>
          </a:bodyPr>
          <a:lstStyle/>
          <a:p>
            <a:pPr algn="l"/>
            <a:r>
              <a:rPr sz="1350" b="0">
                <a:solidFill>
                  <a:srgbClr val="EEDEB1"/>
                </a:solidFill>
                <a:latin typeface="Aptos"/>
              </a:rPr>
              <a:t>Prim-planurile transformă recuzita în dovezi morale.</a:t>
            </a:r>
          </a:p>
        </p:txBody>
      </p:sp>
      <p:sp>
        <p:nvSpPr>
          <p:cNvPr id="69" name="Rounded Rectangle 68"/>
          <p:cNvSpPr/>
          <p:nvPr/>
        </p:nvSpPr>
        <p:spPr>
          <a:xfrm>
            <a:off x="3055467" y="523951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56635" y="5120640"/>
            <a:ext cx="5879592" cy="274320"/>
          </a:xfrm>
          <a:prstGeom prst="rect">
            <a:avLst/>
          </a:prstGeom>
          <a:noFill/>
        </p:spPr>
        <p:txBody>
          <a:bodyPr wrap="square" lIns="36576" rIns="36576" tIns="18288" bIns="18288" anchor="t">
            <a:spAutoFit/>
          </a:bodyPr>
          <a:lstStyle/>
          <a:p>
            <a:pPr algn="l"/>
            <a:r>
              <a:rPr sz="1350" b="0">
                <a:solidFill>
                  <a:srgbClr val="EEDEB1"/>
                </a:solidFill>
                <a:latin typeface="Aptos"/>
              </a:rPr>
              <a:t>Culorile marchează pericolul, contaminarea și identitatea.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00D"/>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07</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TEME</a:t>
            </a:r>
          </a:p>
        </p:txBody>
      </p:sp>
      <p:sp>
        <p:nvSpPr>
          <p:cNvPr id="50" name="TextBox 49"/>
          <p:cNvSpPr txBox="1"/>
          <p:nvPr/>
        </p:nvSpPr>
        <p:spPr>
          <a:xfrm>
            <a:off x="1999335" y="822960"/>
            <a:ext cx="8193024" cy="566928"/>
          </a:xfrm>
          <a:prstGeom prst="rect">
            <a:avLst/>
          </a:prstGeom>
          <a:noFill/>
        </p:spPr>
        <p:txBody>
          <a:bodyPr wrap="square" lIns="36576" rIns="36576" tIns="18288" bIns="18288" anchor="t">
            <a:spAutoFit/>
          </a:bodyPr>
          <a:lstStyle/>
          <a:p>
            <a:pPr algn="ctr"/>
            <a:r>
              <a:rPr sz="3600" b="1">
                <a:solidFill>
                  <a:srgbClr val="EEDEB1"/>
                </a:solidFill>
                <a:latin typeface="Georgia"/>
              </a:rPr>
              <a:t>Întrebările din poveste</a:t>
            </a:r>
          </a:p>
        </p:txBody>
      </p:sp>
      <p:sp>
        <p:nvSpPr>
          <p:cNvPr id="51" name="Rounded Rectangle 50"/>
          <p:cNvSpPr/>
          <p:nvPr/>
        </p:nvSpPr>
        <p:spPr>
          <a:xfrm>
            <a:off x="2392527" y="1737360"/>
            <a:ext cx="3474720" cy="111556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93695" y="1901952"/>
            <a:ext cx="3072384" cy="274320"/>
          </a:xfrm>
          <a:prstGeom prst="rect">
            <a:avLst/>
          </a:prstGeom>
          <a:noFill/>
        </p:spPr>
        <p:txBody>
          <a:bodyPr wrap="square" lIns="36576" rIns="36576" tIns="18288" bIns="18288" anchor="t">
            <a:spAutoFit/>
          </a:bodyPr>
          <a:lstStyle/>
          <a:p>
            <a:pPr algn="ctr"/>
            <a:r>
              <a:rPr sz="2000" b="1">
                <a:solidFill>
                  <a:srgbClr val="C69637"/>
                </a:solidFill>
                <a:latin typeface="Georgia"/>
              </a:rPr>
              <a:t>Mândrie</a:t>
            </a:r>
          </a:p>
        </p:txBody>
      </p:sp>
      <p:sp>
        <p:nvSpPr>
          <p:cNvPr id="53" name="TextBox 52"/>
          <p:cNvSpPr txBox="1"/>
          <p:nvPr/>
        </p:nvSpPr>
        <p:spPr>
          <a:xfrm>
            <a:off x="2648559" y="2322576"/>
            <a:ext cx="2962656" cy="329184"/>
          </a:xfrm>
          <a:prstGeom prst="rect">
            <a:avLst/>
          </a:prstGeom>
          <a:noFill/>
        </p:spPr>
        <p:txBody>
          <a:bodyPr wrap="square" lIns="36576" rIns="36576" tIns="18288" bIns="18288" anchor="t">
            <a:spAutoFit/>
          </a:bodyPr>
          <a:lstStyle/>
          <a:p>
            <a:pPr algn="ctr"/>
            <a:r>
              <a:rPr sz="1380" b="0">
                <a:solidFill>
                  <a:srgbClr val="EEDEB1"/>
                </a:solidFill>
                <a:latin typeface="Aptos"/>
              </a:rPr>
              <a:t>Când devine grija pentru familie doar dorință de putere?</a:t>
            </a:r>
          </a:p>
        </p:txBody>
      </p:sp>
      <p:sp>
        <p:nvSpPr>
          <p:cNvPr id="54" name="Rounded Rectangle 53"/>
          <p:cNvSpPr/>
          <p:nvPr/>
        </p:nvSpPr>
        <p:spPr>
          <a:xfrm>
            <a:off x="6324447" y="1737360"/>
            <a:ext cx="3474720" cy="111556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25615" y="1901952"/>
            <a:ext cx="3072384" cy="274320"/>
          </a:xfrm>
          <a:prstGeom prst="rect">
            <a:avLst/>
          </a:prstGeom>
          <a:noFill/>
        </p:spPr>
        <p:txBody>
          <a:bodyPr wrap="square" lIns="36576" rIns="36576" tIns="18288" bIns="18288" anchor="t">
            <a:spAutoFit/>
          </a:bodyPr>
          <a:lstStyle/>
          <a:p>
            <a:pPr algn="ctr"/>
            <a:r>
              <a:rPr sz="2000" b="1">
                <a:solidFill>
                  <a:srgbClr val="C69637"/>
                </a:solidFill>
                <a:latin typeface="Georgia"/>
              </a:rPr>
              <a:t>Familie</a:t>
            </a:r>
          </a:p>
        </p:txBody>
      </p:sp>
      <p:sp>
        <p:nvSpPr>
          <p:cNvPr id="56" name="TextBox 55"/>
          <p:cNvSpPr txBox="1"/>
          <p:nvPr/>
        </p:nvSpPr>
        <p:spPr>
          <a:xfrm>
            <a:off x="6580479" y="2322576"/>
            <a:ext cx="2962656" cy="329184"/>
          </a:xfrm>
          <a:prstGeom prst="rect">
            <a:avLst/>
          </a:prstGeom>
          <a:noFill/>
        </p:spPr>
        <p:txBody>
          <a:bodyPr wrap="square" lIns="36576" rIns="36576" tIns="18288" bIns="18288" anchor="t">
            <a:spAutoFit/>
          </a:bodyPr>
          <a:lstStyle/>
          <a:p>
            <a:pPr algn="ctr"/>
            <a:r>
              <a:rPr sz="1380" b="0">
                <a:solidFill>
                  <a:srgbClr val="EEDEB1"/>
                </a:solidFill>
                <a:latin typeface="Aptos"/>
              </a:rPr>
              <a:t>Cât de des ascunde iubirea egoismul?</a:t>
            </a:r>
          </a:p>
        </p:txBody>
      </p:sp>
      <p:sp>
        <p:nvSpPr>
          <p:cNvPr id="57" name="Rounded Rectangle 56"/>
          <p:cNvSpPr/>
          <p:nvPr/>
        </p:nvSpPr>
        <p:spPr>
          <a:xfrm>
            <a:off x="2392527" y="3182112"/>
            <a:ext cx="3474720" cy="111556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93695" y="3346704"/>
            <a:ext cx="3072384" cy="274320"/>
          </a:xfrm>
          <a:prstGeom prst="rect">
            <a:avLst/>
          </a:prstGeom>
          <a:noFill/>
        </p:spPr>
        <p:txBody>
          <a:bodyPr wrap="square" lIns="36576" rIns="36576" tIns="18288" bIns="18288" anchor="t">
            <a:spAutoFit/>
          </a:bodyPr>
          <a:lstStyle/>
          <a:p>
            <a:pPr algn="ctr"/>
            <a:r>
              <a:rPr sz="2000" b="1">
                <a:solidFill>
                  <a:srgbClr val="C69637"/>
                </a:solidFill>
                <a:latin typeface="Georgia"/>
              </a:rPr>
              <a:t>Consecință</a:t>
            </a:r>
          </a:p>
        </p:txBody>
      </p:sp>
      <p:sp>
        <p:nvSpPr>
          <p:cNvPr id="59" name="TextBox 58"/>
          <p:cNvSpPr txBox="1"/>
          <p:nvPr/>
        </p:nvSpPr>
        <p:spPr>
          <a:xfrm>
            <a:off x="2648559" y="3767328"/>
            <a:ext cx="2962656" cy="329184"/>
          </a:xfrm>
          <a:prstGeom prst="rect">
            <a:avLst/>
          </a:prstGeom>
          <a:noFill/>
        </p:spPr>
        <p:txBody>
          <a:bodyPr wrap="square" lIns="36576" rIns="36576" tIns="18288" bIns="18288" anchor="t">
            <a:spAutoFit/>
          </a:bodyPr>
          <a:lstStyle/>
          <a:p>
            <a:pPr algn="ctr"/>
            <a:r>
              <a:rPr sz="1380" b="0">
                <a:solidFill>
                  <a:srgbClr val="EEDEB1"/>
                </a:solidFill>
                <a:latin typeface="Aptos"/>
              </a:rPr>
              <a:t>Fiecare scăpare isteață mută datoria în altă parte.</a:t>
            </a:r>
          </a:p>
        </p:txBody>
      </p:sp>
      <p:sp>
        <p:nvSpPr>
          <p:cNvPr id="60" name="Rounded Rectangle 59"/>
          <p:cNvSpPr/>
          <p:nvPr/>
        </p:nvSpPr>
        <p:spPr>
          <a:xfrm>
            <a:off x="6324447" y="3182112"/>
            <a:ext cx="3474720" cy="1115568"/>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25615" y="3346704"/>
            <a:ext cx="3072384" cy="274320"/>
          </a:xfrm>
          <a:prstGeom prst="rect">
            <a:avLst/>
          </a:prstGeom>
          <a:noFill/>
        </p:spPr>
        <p:txBody>
          <a:bodyPr wrap="square" lIns="36576" rIns="36576" tIns="18288" bIns="18288" anchor="t">
            <a:spAutoFit/>
          </a:bodyPr>
          <a:lstStyle/>
          <a:p>
            <a:pPr algn="ctr"/>
            <a:r>
              <a:rPr sz="2000" b="1">
                <a:solidFill>
                  <a:srgbClr val="C69637"/>
                </a:solidFill>
                <a:latin typeface="Georgia"/>
              </a:rPr>
              <a:t>Identitate</a:t>
            </a:r>
          </a:p>
        </p:txBody>
      </p:sp>
      <p:sp>
        <p:nvSpPr>
          <p:cNvPr id="62" name="TextBox 61"/>
          <p:cNvSpPr txBox="1"/>
          <p:nvPr/>
        </p:nvSpPr>
        <p:spPr>
          <a:xfrm>
            <a:off x="6580479" y="3767328"/>
            <a:ext cx="2962656" cy="329184"/>
          </a:xfrm>
          <a:prstGeom prst="rect">
            <a:avLst/>
          </a:prstGeom>
          <a:noFill/>
        </p:spPr>
        <p:txBody>
          <a:bodyPr wrap="square" lIns="36576" rIns="36576" tIns="18288" bIns="18288" anchor="t">
            <a:spAutoFit/>
          </a:bodyPr>
          <a:lstStyle/>
          <a:p>
            <a:pPr algn="ctr"/>
            <a:r>
              <a:rPr sz="1380" b="0">
                <a:solidFill>
                  <a:srgbClr val="EEDEB1"/>
                </a:solidFill>
                <a:latin typeface="Aptos"/>
              </a:rPr>
              <a:t>Un nume poate deveni mască, apoi închisoare.</a:t>
            </a:r>
          </a:p>
        </p:txBody>
      </p:sp>
      <p:sp>
        <p:nvSpPr>
          <p:cNvPr id="63" name="TextBox 62"/>
          <p:cNvSpPr txBox="1"/>
          <p:nvPr/>
        </p:nvSpPr>
        <p:spPr>
          <a:xfrm>
            <a:off x="2712567" y="4983480"/>
            <a:ext cx="6766560" cy="502920"/>
          </a:xfrm>
          <a:prstGeom prst="rect">
            <a:avLst/>
          </a:prstGeom>
          <a:noFill/>
        </p:spPr>
        <p:txBody>
          <a:bodyPr wrap="square" lIns="36576" rIns="36576" tIns="18288" bIns="18288" anchor="t">
            <a:spAutoFit/>
          </a:bodyPr>
          <a:lstStyle/>
          <a:p>
            <a:pPr algn="ctr"/>
            <a:r>
              <a:rPr sz="1300" b="0">
                <a:solidFill>
                  <a:srgbClr val="D3BE88"/>
                </a:solidFill>
                <a:latin typeface="Aptos"/>
              </a:rPr>
              <a:t>Suspansul nu e doar criminal. Întrebarea reală este ce dezvăluie supraviețuirea despre Walter.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A08"/>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08</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STRUCTURĂ</a:t>
            </a:r>
          </a:p>
        </p:txBody>
      </p:sp>
      <p:sp>
        <p:nvSpPr>
          <p:cNvPr id="50" name="TextBox 49"/>
          <p:cNvSpPr txBox="1"/>
          <p:nvPr/>
        </p:nvSpPr>
        <p:spPr>
          <a:xfrm>
            <a:off x="1783080" y="841248"/>
            <a:ext cx="8622792" cy="566928"/>
          </a:xfrm>
          <a:prstGeom prst="rect">
            <a:avLst/>
          </a:prstGeom>
          <a:noFill/>
        </p:spPr>
        <p:txBody>
          <a:bodyPr wrap="none" lIns="36576" rIns="36576" tIns="18288" bIns="18288" anchor="t">
            <a:spAutoFit/>
          </a:bodyPr>
          <a:lstStyle/>
          <a:p>
            <a:pPr algn="ctr"/>
            <a:r>
              <a:rPr sz="4200" b="1">
                <a:solidFill>
                  <a:srgbClr val="EEDEB1"/>
                </a:solidFill>
                <a:latin typeface="Georgia"/>
              </a:rPr>
              <a:t>Cinci sezoane, o capcană</a:t>
            </a:r>
          </a:p>
        </p:txBody>
      </p:sp>
      <p:sp>
        <p:nvSpPr>
          <p:cNvPr id="51" name="TextBox 50"/>
          <p:cNvSpPr txBox="1"/>
          <p:nvPr/>
        </p:nvSpPr>
        <p:spPr>
          <a:xfrm>
            <a:off x="2621127" y="1508760"/>
            <a:ext cx="6949440" cy="411480"/>
          </a:xfrm>
          <a:prstGeom prst="rect">
            <a:avLst/>
          </a:prstGeom>
          <a:noFill/>
        </p:spPr>
        <p:txBody>
          <a:bodyPr wrap="square" lIns="36576" rIns="36576" tIns="18288" bIns="18288" anchor="t">
            <a:spAutoFit/>
          </a:bodyPr>
          <a:lstStyle/>
          <a:p>
            <a:pPr algn="ctr"/>
            <a:r>
              <a:rPr sz="1800" b="0">
                <a:solidFill>
                  <a:srgbClr val="EEDEB1"/>
                </a:solidFill>
                <a:latin typeface="Aptos"/>
              </a:rPr>
              <a:t>Serialul escaladează ca o reacție chimică: presiune, căldură, ego. Apoi totul devine ireversibil.</a:t>
            </a:r>
          </a:p>
        </p:txBody>
      </p:sp>
      <p:sp>
        <p:nvSpPr>
          <p:cNvPr id="52" name="Rounded Rectangle 51"/>
          <p:cNvSpPr/>
          <p:nvPr/>
        </p:nvSpPr>
        <p:spPr>
          <a:xfrm>
            <a:off x="2145639" y="3246120"/>
            <a:ext cx="1170432" cy="1170432"/>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45639" y="3538728"/>
            <a:ext cx="1170432" cy="310896"/>
          </a:xfrm>
          <a:prstGeom prst="rect">
            <a:avLst/>
          </a:prstGeom>
          <a:noFill/>
        </p:spPr>
        <p:txBody>
          <a:bodyPr wrap="square" lIns="36576" rIns="36576" tIns="18288" bIns="18288" anchor="t">
            <a:spAutoFit/>
          </a:bodyPr>
          <a:lstStyle/>
          <a:p>
            <a:pPr algn="ctr"/>
            <a:r>
              <a:rPr sz="2400" b="1">
                <a:solidFill>
                  <a:srgbClr val="EEDEB1"/>
                </a:solidFill>
                <a:latin typeface="Georgia"/>
              </a:rPr>
              <a:t>01</a:t>
            </a:r>
          </a:p>
        </p:txBody>
      </p:sp>
      <p:sp>
        <p:nvSpPr>
          <p:cNvPr id="54" name="TextBox 53"/>
          <p:cNvSpPr txBox="1"/>
          <p:nvPr/>
        </p:nvSpPr>
        <p:spPr>
          <a:xfrm>
            <a:off x="1825599" y="4572000"/>
            <a:ext cx="1810512" cy="228600"/>
          </a:xfrm>
          <a:prstGeom prst="rect">
            <a:avLst/>
          </a:prstGeom>
          <a:noFill/>
        </p:spPr>
        <p:txBody>
          <a:bodyPr wrap="square" lIns="36576" rIns="36576" tIns="18288" bIns="18288" anchor="t">
            <a:spAutoFit/>
          </a:bodyPr>
          <a:lstStyle/>
          <a:p>
            <a:pPr algn="ctr"/>
            <a:r>
              <a:rPr sz="1350" b="1">
                <a:solidFill>
                  <a:srgbClr val="C69637"/>
                </a:solidFill>
                <a:latin typeface="Aptos"/>
              </a:rPr>
              <a:t>Disperare</a:t>
            </a:r>
          </a:p>
        </p:txBody>
      </p:sp>
      <p:sp>
        <p:nvSpPr>
          <p:cNvPr id="55" name="TextBox 54"/>
          <p:cNvSpPr txBox="1"/>
          <p:nvPr/>
        </p:nvSpPr>
        <p:spPr>
          <a:xfrm>
            <a:off x="1706727" y="4910328"/>
            <a:ext cx="2048256" cy="384048"/>
          </a:xfrm>
          <a:prstGeom prst="rect">
            <a:avLst/>
          </a:prstGeom>
          <a:noFill/>
        </p:spPr>
        <p:txBody>
          <a:bodyPr wrap="square" lIns="36576" rIns="36576" tIns="18288" bIns="18288" anchor="t">
            <a:spAutoFit/>
          </a:bodyPr>
          <a:lstStyle/>
          <a:p>
            <a:pPr algn="ctr"/>
            <a:r>
              <a:rPr sz="1080" b="0">
                <a:solidFill>
                  <a:srgbClr val="D3BE88"/>
                </a:solidFill>
                <a:latin typeface="Aptos"/>
              </a:rPr>
              <a:t>Apare secretul</a:t>
            </a:r>
          </a:p>
        </p:txBody>
      </p:sp>
      <p:sp>
        <p:nvSpPr>
          <p:cNvPr id="56" name="Rectangle 55"/>
          <p:cNvSpPr/>
          <p:nvPr/>
        </p:nvSpPr>
        <p:spPr>
          <a:xfrm>
            <a:off x="3389223" y="3794760"/>
            <a:ext cx="365760" cy="54864"/>
          </a:xfrm>
          <a:prstGeom prst="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828135" y="3246120"/>
            <a:ext cx="1170432" cy="1170432"/>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28135" y="3538728"/>
            <a:ext cx="1170432" cy="310896"/>
          </a:xfrm>
          <a:prstGeom prst="rect">
            <a:avLst/>
          </a:prstGeom>
          <a:noFill/>
        </p:spPr>
        <p:txBody>
          <a:bodyPr wrap="square" lIns="36576" rIns="36576" tIns="18288" bIns="18288" anchor="t">
            <a:spAutoFit/>
          </a:bodyPr>
          <a:lstStyle/>
          <a:p>
            <a:pPr algn="ctr"/>
            <a:r>
              <a:rPr sz="2400" b="1">
                <a:solidFill>
                  <a:srgbClr val="EEDEB1"/>
                </a:solidFill>
                <a:latin typeface="Georgia"/>
              </a:rPr>
              <a:t>02</a:t>
            </a:r>
          </a:p>
        </p:txBody>
      </p:sp>
      <p:sp>
        <p:nvSpPr>
          <p:cNvPr id="59" name="TextBox 58"/>
          <p:cNvSpPr txBox="1"/>
          <p:nvPr/>
        </p:nvSpPr>
        <p:spPr>
          <a:xfrm>
            <a:off x="3508095" y="4572000"/>
            <a:ext cx="1810512" cy="228600"/>
          </a:xfrm>
          <a:prstGeom prst="rect">
            <a:avLst/>
          </a:prstGeom>
          <a:noFill/>
        </p:spPr>
        <p:txBody>
          <a:bodyPr wrap="square" lIns="36576" rIns="36576" tIns="18288" bIns="18288" anchor="t">
            <a:spAutoFit/>
          </a:bodyPr>
          <a:lstStyle/>
          <a:p>
            <a:pPr algn="ctr"/>
            <a:r>
              <a:rPr sz="1350" b="1">
                <a:solidFill>
                  <a:srgbClr val="C69637"/>
                </a:solidFill>
                <a:latin typeface="Aptos"/>
              </a:rPr>
              <a:t>Parteneriat</a:t>
            </a:r>
          </a:p>
        </p:txBody>
      </p:sp>
      <p:sp>
        <p:nvSpPr>
          <p:cNvPr id="60" name="TextBox 59"/>
          <p:cNvSpPr txBox="1"/>
          <p:nvPr/>
        </p:nvSpPr>
        <p:spPr>
          <a:xfrm>
            <a:off x="3389223" y="4910328"/>
            <a:ext cx="2048256" cy="384048"/>
          </a:xfrm>
          <a:prstGeom prst="rect">
            <a:avLst/>
          </a:prstGeom>
          <a:noFill/>
        </p:spPr>
        <p:txBody>
          <a:bodyPr wrap="square" lIns="36576" rIns="36576" tIns="18288" bIns="18288" anchor="t">
            <a:spAutoFit/>
          </a:bodyPr>
          <a:lstStyle/>
          <a:p>
            <a:pPr algn="ctr"/>
            <a:r>
              <a:rPr sz="1080" b="0">
                <a:solidFill>
                  <a:srgbClr val="D3BE88"/>
                </a:solidFill>
                <a:latin typeface="Aptos"/>
              </a:rPr>
              <a:t>Planul se murdărește</a:t>
            </a:r>
          </a:p>
        </p:txBody>
      </p:sp>
      <p:sp>
        <p:nvSpPr>
          <p:cNvPr id="61" name="Rectangle 60"/>
          <p:cNvSpPr/>
          <p:nvPr/>
        </p:nvSpPr>
        <p:spPr>
          <a:xfrm>
            <a:off x="5071719" y="3794760"/>
            <a:ext cx="365760" cy="54864"/>
          </a:xfrm>
          <a:prstGeom prst="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510631" y="3246120"/>
            <a:ext cx="1170432" cy="1170432"/>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10631" y="3538728"/>
            <a:ext cx="1170432" cy="310896"/>
          </a:xfrm>
          <a:prstGeom prst="rect">
            <a:avLst/>
          </a:prstGeom>
          <a:noFill/>
        </p:spPr>
        <p:txBody>
          <a:bodyPr wrap="square" lIns="36576" rIns="36576" tIns="18288" bIns="18288" anchor="t">
            <a:spAutoFit/>
          </a:bodyPr>
          <a:lstStyle/>
          <a:p>
            <a:pPr algn="ctr"/>
            <a:r>
              <a:rPr sz="2400" b="1">
                <a:solidFill>
                  <a:srgbClr val="EEDEB1"/>
                </a:solidFill>
                <a:latin typeface="Georgia"/>
              </a:rPr>
              <a:t>03</a:t>
            </a:r>
          </a:p>
        </p:txBody>
      </p:sp>
      <p:sp>
        <p:nvSpPr>
          <p:cNvPr id="64" name="TextBox 63"/>
          <p:cNvSpPr txBox="1"/>
          <p:nvPr/>
        </p:nvSpPr>
        <p:spPr>
          <a:xfrm>
            <a:off x="5190591" y="4572000"/>
            <a:ext cx="1810512" cy="228600"/>
          </a:xfrm>
          <a:prstGeom prst="rect">
            <a:avLst/>
          </a:prstGeom>
          <a:noFill/>
        </p:spPr>
        <p:txBody>
          <a:bodyPr wrap="square" lIns="36576" rIns="36576" tIns="18288" bIns="18288" anchor="t">
            <a:spAutoFit/>
          </a:bodyPr>
          <a:lstStyle/>
          <a:p>
            <a:pPr algn="ctr"/>
            <a:r>
              <a:rPr sz="1350" b="1">
                <a:solidFill>
                  <a:srgbClr val="C69637"/>
                </a:solidFill>
                <a:latin typeface="Aptos"/>
              </a:rPr>
              <a:t>Expansiune</a:t>
            </a:r>
          </a:p>
        </p:txBody>
      </p:sp>
      <p:sp>
        <p:nvSpPr>
          <p:cNvPr id="65" name="TextBox 64"/>
          <p:cNvSpPr txBox="1"/>
          <p:nvPr/>
        </p:nvSpPr>
        <p:spPr>
          <a:xfrm>
            <a:off x="5071719" y="4910328"/>
            <a:ext cx="2048256" cy="384048"/>
          </a:xfrm>
          <a:prstGeom prst="rect">
            <a:avLst/>
          </a:prstGeom>
          <a:noFill/>
        </p:spPr>
        <p:txBody>
          <a:bodyPr wrap="square" lIns="36576" rIns="36576" tIns="18288" bIns="18288" anchor="t">
            <a:spAutoFit/>
          </a:bodyPr>
          <a:lstStyle/>
          <a:p>
            <a:pPr algn="ctr"/>
            <a:r>
              <a:rPr sz="1080" b="0">
                <a:solidFill>
                  <a:srgbClr val="D3BE88"/>
                </a:solidFill>
                <a:latin typeface="Aptos"/>
              </a:rPr>
              <a:t>Afacerea ia locul panicii</a:t>
            </a:r>
          </a:p>
        </p:txBody>
      </p:sp>
      <p:sp>
        <p:nvSpPr>
          <p:cNvPr id="66" name="Rectangle 65"/>
          <p:cNvSpPr/>
          <p:nvPr/>
        </p:nvSpPr>
        <p:spPr>
          <a:xfrm>
            <a:off x="6754215" y="3794760"/>
            <a:ext cx="365760" cy="54864"/>
          </a:xfrm>
          <a:prstGeom prst="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193127" y="3246120"/>
            <a:ext cx="1170432" cy="1170432"/>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93127" y="3538728"/>
            <a:ext cx="1170432" cy="310896"/>
          </a:xfrm>
          <a:prstGeom prst="rect">
            <a:avLst/>
          </a:prstGeom>
          <a:noFill/>
        </p:spPr>
        <p:txBody>
          <a:bodyPr wrap="square" lIns="36576" rIns="36576" tIns="18288" bIns="18288" anchor="t">
            <a:spAutoFit/>
          </a:bodyPr>
          <a:lstStyle/>
          <a:p>
            <a:pPr algn="ctr"/>
            <a:r>
              <a:rPr sz="2400" b="1">
                <a:solidFill>
                  <a:srgbClr val="EEDEB1"/>
                </a:solidFill>
                <a:latin typeface="Georgia"/>
              </a:rPr>
              <a:t>04</a:t>
            </a:r>
          </a:p>
        </p:txBody>
      </p:sp>
      <p:sp>
        <p:nvSpPr>
          <p:cNvPr id="69" name="TextBox 68"/>
          <p:cNvSpPr txBox="1"/>
          <p:nvPr/>
        </p:nvSpPr>
        <p:spPr>
          <a:xfrm>
            <a:off x="6873087" y="4572000"/>
            <a:ext cx="1810512" cy="228600"/>
          </a:xfrm>
          <a:prstGeom prst="rect">
            <a:avLst/>
          </a:prstGeom>
          <a:noFill/>
        </p:spPr>
        <p:txBody>
          <a:bodyPr wrap="square" lIns="36576" rIns="36576" tIns="18288" bIns="18288" anchor="t">
            <a:spAutoFit/>
          </a:bodyPr>
          <a:lstStyle/>
          <a:p>
            <a:pPr algn="ctr"/>
            <a:r>
              <a:rPr sz="1350" b="1">
                <a:solidFill>
                  <a:srgbClr val="C69637"/>
                </a:solidFill>
                <a:latin typeface="Aptos"/>
              </a:rPr>
              <a:t>Război</a:t>
            </a:r>
          </a:p>
        </p:txBody>
      </p:sp>
      <p:sp>
        <p:nvSpPr>
          <p:cNvPr id="70" name="TextBox 69"/>
          <p:cNvSpPr txBox="1"/>
          <p:nvPr/>
        </p:nvSpPr>
        <p:spPr>
          <a:xfrm>
            <a:off x="6754215" y="4910328"/>
            <a:ext cx="2048256" cy="384048"/>
          </a:xfrm>
          <a:prstGeom prst="rect">
            <a:avLst/>
          </a:prstGeom>
          <a:noFill/>
        </p:spPr>
        <p:txBody>
          <a:bodyPr wrap="square" lIns="36576" rIns="36576" tIns="18288" bIns="18288" anchor="t">
            <a:spAutoFit/>
          </a:bodyPr>
          <a:lstStyle/>
          <a:p>
            <a:pPr algn="ctr"/>
            <a:r>
              <a:rPr sz="1080" b="0">
                <a:solidFill>
                  <a:srgbClr val="D3BE88"/>
                </a:solidFill>
                <a:latin typeface="Aptos"/>
              </a:rPr>
              <a:t>Puterea întâlnește un rival rece</a:t>
            </a:r>
          </a:p>
        </p:txBody>
      </p:sp>
      <p:sp>
        <p:nvSpPr>
          <p:cNvPr id="71" name="Rectangle 70"/>
          <p:cNvSpPr/>
          <p:nvPr/>
        </p:nvSpPr>
        <p:spPr>
          <a:xfrm>
            <a:off x="8436711" y="3794760"/>
            <a:ext cx="365760" cy="54864"/>
          </a:xfrm>
          <a:prstGeom prst="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875623" y="3246120"/>
            <a:ext cx="1170432" cy="1170432"/>
          </a:xfrm>
          <a:prstGeom prst="round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75623" y="3538728"/>
            <a:ext cx="1170432" cy="310896"/>
          </a:xfrm>
          <a:prstGeom prst="rect">
            <a:avLst/>
          </a:prstGeom>
          <a:noFill/>
        </p:spPr>
        <p:txBody>
          <a:bodyPr wrap="square" lIns="36576" rIns="36576" tIns="18288" bIns="18288" anchor="t">
            <a:spAutoFit/>
          </a:bodyPr>
          <a:lstStyle/>
          <a:p>
            <a:pPr algn="ctr"/>
            <a:r>
              <a:rPr sz="2400" b="1">
                <a:solidFill>
                  <a:srgbClr val="EEDEB1"/>
                </a:solidFill>
                <a:latin typeface="Georgia"/>
              </a:rPr>
              <a:t>05</a:t>
            </a:r>
          </a:p>
        </p:txBody>
      </p:sp>
      <p:sp>
        <p:nvSpPr>
          <p:cNvPr id="74" name="TextBox 73"/>
          <p:cNvSpPr txBox="1"/>
          <p:nvPr/>
        </p:nvSpPr>
        <p:spPr>
          <a:xfrm>
            <a:off x="8555583" y="4572000"/>
            <a:ext cx="1810512" cy="228600"/>
          </a:xfrm>
          <a:prstGeom prst="rect">
            <a:avLst/>
          </a:prstGeom>
          <a:noFill/>
        </p:spPr>
        <p:txBody>
          <a:bodyPr wrap="square" lIns="36576" rIns="36576" tIns="18288" bIns="18288" anchor="t">
            <a:spAutoFit/>
          </a:bodyPr>
          <a:lstStyle/>
          <a:p>
            <a:pPr algn="ctr"/>
            <a:r>
              <a:rPr sz="1350" b="1">
                <a:solidFill>
                  <a:srgbClr val="C69637"/>
                </a:solidFill>
                <a:latin typeface="Aptos"/>
              </a:rPr>
              <a:t>Prăbușire</a:t>
            </a:r>
          </a:p>
        </p:txBody>
      </p:sp>
      <p:sp>
        <p:nvSpPr>
          <p:cNvPr id="75" name="TextBox 74"/>
          <p:cNvSpPr txBox="1"/>
          <p:nvPr/>
        </p:nvSpPr>
        <p:spPr>
          <a:xfrm>
            <a:off x="8436711" y="4910328"/>
            <a:ext cx="2048256" cy="384048"/>
          </a:xfrm>
          <a:prstGeom prst="rect">
            <a:avLst/>
          </a:prstGeom>
          <a:noFill/>
        </p:spPr>
        <p:txBody>
          <a:bodyPr wrap="square" lIns="36576" rIns="36576" tIns="18288" bIns="18288" anchor="t">
            <a:spAutoFit/>
          </a:bodyPr>
          <a:lstStyle/>
          <a:p>
            <a:pPr algn="ctr"/>
            <a:r>
              <a:rPr sz="1080" b="0">
                <a:solidFill>
                  <a:srgbClr val="D3BE88"/>
                </a:solidFill>
                <a:latin typeface="Aptos"/>
              </a:rPr>
              <a:t>Imperiul își cere plata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80B0F"/>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09</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SIMBOLURI</a:t>
            </a:r>
          </a:p>
        </p:txBody>
      </p:sp>
      <p:sp>
        <p:nvSpPr>
          <p:cNvPr id="50" name="TextBox 49"/>
          <p:cNvSpPr txBox="1"/>
          <p:nvPr/>
        </p:nvSpPr>
        <p:spPr>
          <a:xfrm>
            <a:off x="1999335" y="822960"/>
            <a:ext cx="8193024" cy="566928"/>
          </a:xfrm>
          <a:prstGeom prst="rect">
            <a:avLst/>
          </a:prstGeom>
          <a:noFill/>
        </p:spPr>
        <p:txBody>
          <a:bodyPr wrap="square" lIns="36576" rIns="36576" tIns="18288" bIns="18288" anchor="t">
            <a:spAutoFit/>
          </a:bodyPr>
          <a:lstStyle/>
          <a:p>
            <a:pPr algn="ctr"/>
            <a:r>
              <a:rPr sz="3600" b="1">
                <a:solidFill>
                  <a:srgbClr val="EEDEB1"/>
                </a:solidFill>
                <a:latin typeface="Georgia"/>
              </a:rPr>
              <a:t>Obiecte care duc povestea</a:t>
            </a:r>
          </a:p>
        </p:txBody>
      </p:sp>
      <p:sp>
        <p:nvSpPr>
          <p:cNvPr id="51" name="Rounded Rectangle 50"/>
          <p:cNvSpPr/>
          <p:nvPr/>
        </p:nvSpPr>
        <p:spPr>
          <a:xfrm>
            <a:off x="1962761" y="1700784"/>
            <a:ext cx="1874519" cy="4005072"/>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2200505" y="2421331"/>
            <a:ext cx="1389888" cy="422452"/>
          </a:xfrm>
          <a:prstGeom prst="roundRect">
            <a:avLst/>
          </a:prstGeom>
          <a:solidFill>
            <a:srgbClr val="D3BE8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62235" y="2300630"/>
            <a:ext cx="375269" cy="221284"/>
          </a:xfrm>
          <a:prstGeom prst="rect">
            <a:avLst/>
          </a:prstGeom>
          <a:solidFill>
            <a:srgbClr val="D3BE8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311696" y="2521915"/>
            <a:ext cx="222382" cy="160934"/>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03572" y="2521915"/>
            <a:ext cx="222382" cy="160934"/>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187325" y="2421331"/>
            <a:ext cx="166786" cy="170992"/>
          </a:xfrm>
          <a:prstGeom prst="rect">
            <a:avLst/>
          </a:prstGeom>
          <a:solidFill>
            <a:srgbClr val="07322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506280" y="2803550"/>
            <a:ext cx="194584" cy="140817"/>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2561875" y="2843784"/>
            <a:ext cx="83393" cy="60350"/>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242921" y="2803550"/>
            <a:ext cx="194584" cy="140817"/>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298516" y="2843784"/>
            <a:ext cx="83393" cy="60350"/>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90777" y="3950208"/>
            <a:ext cx="1618487" cy="256032"/>
          </a:xfrm>
          <a:prstGeom prst="rect">
            <a:avLst/>
          </a:prstGeom>
          <a:noFill/>
        </p:spPr>
        <p:txBody>
          <a:bodyPr wrap="square" lIns="36576" rIns="36576" tIns="18288" bIns="18288" anchor="t">
            <a:spAutoFit/>
          </a:bodyPr>
          <a:lstStyle/>
          <a:p>
            <a:pPr algn="ctr"/>
            <a:r>
              <a:rPr sz="1700" b="1">
                <a:solidFill>
                  <a:srgbClr val="EEDEB1"/>
                </a:solidFill>
                <a:latin typeface="Georgia"/>
              </a:rPr>
              <a:t>Laboratorul RV</a:t>
            </a:r>
          </a:p>
        </p:txBody>
      </p:sp>
      <p:sp>
        <p:nvSpPr>
          <p:cNvPr id="62" name="TextBox 61"/>
          <p:cNvSpPr txBox="1"/>
          <p:nvPr/>
        </p:nvSpPr>
        <p:spPr>
          <a:xfrm>
            <a:off x="2145641" y="4425696"/>
            <a:ext cx="1508759" cy="530352"/>
          </a:xfrm>
          <a:prstGeom prst="rect">
            <a:avLst/>
          </a:prstGeom>
          <a:noFill/>
        </p:spPr>
        <p:txBody>
          <a:bodyPr wrap="square" lIns="36576" rIns="36576" tIns="18288" bIns="18288" anchor="t">
            <a:spAutoFit/>
          </a:bodyPr>
          <a:lstStyle/>
          <a:p>
            <a:pPr algn="ctr"/>
            <a:r>
              <a:rPr sz="1180" b="0">
                <a:solidFill>
                  <a:srgbClr val="D3BE88"/>
                </a:solidFill>
                <a:latin typeface="Aptos"/>
              </a:rPr>
              <a:t>Primul spațiu al crimei</a:t>
            </a:r>
          </a:p>
        </p:txBody>
      </p:sp>
      <p:sp>
        <p:nvSpPr>
          <p:cNvPr id="63" name="Rounded Rectangle 62"/>
          <p:cNvSpPr/>
          <p:nvPr/>
        </p:nvSpPr>
        <p:spPr>
          <a:xfrm>
            <a:off x="4093312" y="1700784"/>
            <a:ext cx="1874519" cy="4005072"/>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Breaking_Bad_gas_mask.jpg"/>
          <p:cNvPicPr>
            <a:picLocks noChangeAspect="1"/>
          </p:cNvPicPr>
          <p:nvPr/>
        </p:nvPicPr>
        <p:blipFill>
          <a:blip r:embed="rId2"/>
          <a:stretch>
            <a:fillRect/>
          </a:stretch>
        </p:blipFill>
        <p:spPr>
          <a:xfrm>
            <a:off x="4446423" y="1901952"/>
            <a:ext cx="1159153" cy="1691640"/>
          </a:xfrm>
          <a:prstGeom prst="rect">
            <a:avLst/>
          </a:prstGeom>
        </p:spPr>
      </p:pic>
      <p:sp>
        <p:nvSpPr>
          <p:cNvPr id="65" name="TextBox 64"/>
          <p:cNvSpPr txBox="1"/>
          <p:nvPr/>
        </p:nvSpPr>
        <p:spPr>
          <a:xfrm>
            <a:off x="4221328" y="3950208"/>
            <a:ext cx="1618487" cy="256032"/>
          </a:xfrm>
          <a:prstGeom prst="rect">
            <a:avLst/>
          </a:prstGeom>
          <a:noFill/>
        </p:spPr>
        <p:txBody>
          <a:bodyPr wrap="square" lIns="36576" rIns="36576" tIns="18288" bIns="18288" anchor="t">
            <a:spAutoFit/>
          </a:bodyPr>
          <a:lstStyle/>
          <a:p>
            <a:pPr algn="ctr"/>
            <a:r>
              <a:rPr sz="1700" b="1">
                <a:solidFill>
                  <a:srgbClr val="EEDEB1"/>
                </a:solidFill>
                <a:latin typeface="Georgia"/>
              </a:rPr>
              <a:t>Masca de gaze</a:t>
            </a:r>
          </a:p>
        </p:txBody>
      </p:sp>
      <p:sp>
        <p:nvSpPr>
          <p:cNvPr id="66" name="TextBox 65"/>
          <p:cNvSpPr txBox="1"/>
          <p:nvPr/>
        </p:nvSpPr>
        <p:spPr>
          <a:xfrm>
            <a:off x="4276192" y="4425696"/>
            <a:ext cx="1508759" cy="530352"/>
          </a:xfrm>
          <a:prstGeom prst="rect">
            <a:avLst/>
          </a:prstGeom>
          <a:noFill/>
        </p:spPr>
        <p:txBody>
          <a:bodyPr wrap="square" lIns="36576" rIns="36576" tIns="18288" bIns="18288" anchor="t">
            <a:spAutoFit/>
          </a:bodyPr>
          <a:lstStyle/>
          <a:p>
            <a:pPr algn="ctr"/>
            <a:r>
              <a:rPr sz="1180" b="0">
                <a:solidFill>
                  <a:srgbClr val="D3BE88"/>
                </a:solidFill>
                <a:latin typeface="Aptos"/>
              </a:rPr>
              <a:t>Știință, pericol și ascundere</a:t>
            </a:r>
          </a:p>
        </p:txBody>
      </p:sp>
      <p:sp>
        <p:nvSpPr>
          <p:cNvPr id="67" name="Rounded Rectangle 66"/>
          <p:cNvSpPr/>
          <p:nvPr/>
        </p:nvSpPr>
        <p:spPr>
          <a:xfrm>
            <a:off x="6223863" y="1700784"/>
            <a:ext cx="1874519" cy="4005072"/>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607911" y="2772460"/>
            <a:ext cx="1097280" cy="104241"/>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882231" y="2494483"/>
            <a:ext cx="548640" cy="330098"/>
          </a:xfrm>
          <a:prstGeom prst="roundRect">
            <a:avLst/>
          </a:prstGeom>
          <a:solidFill>
            <a:srgbClr val="0D0A08"/>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915149" y="2763774"/>
            <a:ext cx="482803" cy="69494"/>
          </a:xfrm>
          <a:prstGeom prst="rect">
            <a:avLst/>
          </a:prstGeom>
          <a:solidFill>
            <a:srgbClr val="8014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51879" y="3950208"/>
            <a:ext cx="1618487" cy="256032"/>
          </a:xfrm>
          <a:prstGeom prst="rect">
            <a:avLst/>
          </a:prstGeom>
          <a:noFill/>
        </p:spPr>
        <p:txBody>
          <a:bodyPr wrap="square" lIns="36576" rIns="36576" tIns="18288" bIns="18288" anchor="t">
            <a:spAutoFit/>
          </a:bodyPr>
          <a:lstStyle/>
          <a:p>
            <a:pPr algn="ctr"/>
            <a:r>
              <a:rPr sz="1700" b="1">
                <a:solidFill>
                  <a:srgbClr val="EEDEB1"/>
                </a:solidFill>
                <a:latin typeface="Georgia"/>
              </a:rPr>
              <a:t>Pălăria pork pie</a:t>
            </a:r>
          </a:p>
        </p:txBody>
      </p:sp>
      <p:sp>
        <p:nvSpPr>
          <p:cNvPr id="72" name="TextBox 71"/>
          <p:cNvSpPr txBox="1"/>
          <p:nvPr/>
        </p:nvSpPr>
        <p:spPr>
          <a:xfrm>
            <a:off x="6406743" y="4425696"/>
            <a:ext cx="1508759" cy="530352"/>
          </a:xfrm>
          <a:prstGeom prst="rect">
            <a:avLst/>
          </a:prstGeom>
          <a:noFill/>
        </p:spPr>
        <p:txBody>
          <a:bodyPr wrap="square" lIns="36576" rIns="36576" tIns="18288" bIns="18288" anchor="t">
            <a:spAutoFit/>
          </a:bodyPr>
          <a:lstStyle/>
          <a:p>
            <a:pPr algn="ctr"/>
            <a:r>
              <a:rPr sz="1180" b="0">
                <a:solidFill>
                  <a:srgbClr val="D3BE88"/>
                </a:solidFill>
                <a:latin typeface="Aptos"/>
              </a:rPr>
              <a:t>Costumul devine identitate</a:t>
            </a:r>
          </a:p>
        </p:txBody>
      </p:sp>
      <p:sp>
        <p:nvSpPr>
          <p:cNvPr id="73" name="Rounded Rectangle 72"/>
          <p:cNvSpPr/>
          <p:nvPr/>
        </p:nvSpPr>
        <p:spPr>
          <a:xfrm>
            <a:off x="8354414" y="1700784"/>
            <a:ext cx="1874519" cy="4005072"/>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206634" y="2121408"/>
            <a:ext cx="160934" cy="380390"/>
          </a:xfrm>
          <a:prstGeom prst="rect">
            <a:avLst/>
          </a:prstGeom>
          <a:solidFill>
            <a:srgbClr val="40B0BF"/>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9005466" y="2454249"/>
            <a:ext cx="563270" cy="570585"/>
          </a:xfrm>
          <a:prstGeom prst="roundRect">
            <a:avLst/>
          </a:prstGeom>
          <a:solidFill>
            <a:srgbClr val="40B0BF"/>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085934" y="2739542"/>
            <a:ext cx="402336" cy="95097"/>
          </a:xfrm>
          <a:prstGeom prst="rect">
            <a:avLst/>
          </a:prstGeom>
          <a:solidFill>
            <a:srgbClr val="EED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82430" y="3950208"/>
            <a:ext cx="1618487" cy="256032"/>
          </a:xfrm>
          <a:prstGeom prst="rect">
            <a:avLst/>
          </a:prstGeom>
          <a:noFill/>
        </p:spPr>
        <p:txBody>
          <a:bodyPr wrap="square" lIns="36576" rIns="36576" tIns="18288" bIns="18288" anchor="t">
            <a:spAutoFit/>
          </a:bodyPr>
          <a:lstStyle/>
          <a:p>
            <a:pPr algn="ctr"/>
            <a:r>
              <a:rPr sz="1700" b="1">
                <a:solidFill>
                  <a:srgbClr val="EEDEB1"/>
                </a:solidFill>
                <a:latin typeface="Georgia"/>
              </a:rPr>
              <a:t>Produsul albastru</a:t>
            </a:r>
          </a:p>
        </p:txBody>
      </p:sp>
      <p:sp>
        <p:nvSpPr>
          <p:cNvPr id="78" name="TextBox 77"/>
          <p:cNvSpPr txBox="1"/>
          <p:nvPr/>
        </p:nvSpPr>
        <p:spPr>
          <a:xfrm>
            <a:off x="8537294" y="4425696"/>
            <a:ext cx="1508759" cy="530352"/>
          </a:xfrm>
          <a:prstGeom prst="rect">
            <a:avLst/>
          </a:prstGeom>
          <a:noFill/>
        </p:spPr>
        <p:txBody>
          <a:bodyPr wrap="square" lIns="36576" rIns="36576" tIns="18288" bIns="18288" anchor="t">
            <a:spAutoFit/>
          </a:bodyPr>
          <a:lstStyle/>
          <a:p>
            <a:pPr algn="ctr"/>
            <a:r>
              <a:rPr sz="1180" b="0">
                <a:solidFill>
                  <a:srgbClr val="D3BE88"/>
                </a:solidFill>
                <a:latin typeface="Aptos"/>
              </a:rPr>
              <a:t>Chimia devine reputație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00D"/>
        </a:solidFill>
        <a:effectLst/>
      </p:bgPr>
    </p:bg>
    <p:spTree>
      <p:nvGrpSpPr>
        <p:cNvPr id="1" name=""/>
        <p:cNvGrpSpPr/>
        <p:nvPr/>
      </p:nvGrpSpPr>
      <p:grpSpPr/>
      <p:pic>
        <p:nvPicPr>
          <p:cNvPr id="2" name="Picture 1" descr="PaleyFest_2010_Breaking_Bad_creator_Vince_Gilligan_RJ_Mitte_Walt_Jr_Aaron_Paul_J_red_grade.jpg"/>
          <p:cNvPicPr>
            <a:picLocks noChangeAspect="1"/>
          </p:cNvPicPr>
          <p:nvPr/>
        </p:nvPicPr>
        <p:blipFill>
          <a:blip r:embed="rId2"/>
          <a:stretch>
            <a:fillRect/>
          </a:stretch>
        </p:blipFill>
        <p:spPr>
          <a:xfrm>
            <a:off x="-3144405" y="0"/>
            <a:ext cx="18480505" cy="6858000"/>
          </a:xfrm>
          <a:prstGeom prst="rect">
            <a:avLst/>
          </a:prstGeom>
        </p:spPr>
      </p:pic>
      <p:sp>
        <p:nvSpPr>
          <p:cNvPr id="3" name="Rectangle 2"/>
          <p:cNvSpPr/>
          <p:nvPr/>
        </p:nvSpPr>
        <p:spPr>
          <a:xfrm>
            <a:off x="0" y="0"/>
            <a:ext cx="12191695" cy="6858000"/>
          </a:xfrm>
          <a:prstGeom prst="rect">
            <a:avLst/>
          </a:prstGeom>
          <a:solidFill>
            <a:srgbClr val="0D0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10</a:t>
            </a:r>
          </a:p>
        </p:txBody>
      </p:sp>
      <p:sp>
        <p:nvSpPr>
          <p:cNvPr id="51" name="TextBox 50"/>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IMPACT</a:t>
            </a:r>
          </a:p>
        </p:txBody>
      </p:sp>
      <p:sp>
        <p:nvSpPr>
          <p:cNvPr id="52" name="TextBox 51"/>
          <p:cNvSpPr txBox="1"/>
          <p:nvPr/>
        </p:nvSpPr>
        <p:spPr>
          <a:xfrm>
            <a:off x="1999335" y="822960"/>
            <a:ext cx="8193024" cy="566928"/>
          </a:xfrm>
          <a:prstGeom prst="rect">
            <a:avLst/>
          </a:prstGeom>
          <a:noFill/>
        </p:spPr>
        <p:txBody>
          <a:bodyPr wrap="square" lIns="36576" rIns="36576" tIns="18288" bIns="18288" anchor="t">
            <a:spAutoFit/>
          </a:bodyPr>
          <a:lstStyle/>
          <a:p>
            <a:pPr algn="ctr"/>
            <a:r>
              <a:rPr sz="3800" b="1">
                <a:solidFill>
                  <a:srgbClr val="EEDEB1"/>
                </a:solidFill>
                <a:latin typeface="Georgia"/>
              </a:rPr>
              <a:t>De ce a rămas în cultură</a:t>
            </a:r>
          </a:p>
        </p:txBody>
      </p:sp>
      <p:sp>
        <p:nvSpPr>
          <p:cNvPr id="53" name="Rounded Rectangle 52"/>
          <p:cNvSpPr/>
          <p:nvPr/>
        </p:nvSpPr>
        <p:spPr>
          <a:xfrm>
            <a:off x="2346808" y="1664208"/>
            <a:ext cx="3566160" cy="3977639"/>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666848" y="2203703"/>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68016" y="2084831"/>
            <a:ext cx="2724912" cy="566928"/>
          </a:xfrm>
          <a:prstGeom prst="rect">
            <a:avLst/>
          </a:prstGeom>
          <a:noFill/>
        </p:spPr>
        <p:txBody>
          <a:bodyPr wrap="square" lIns="36576" rIns="36576" tIns="18288" bIns="18288" anchor="t">
            <a:spAutoFit/>
          </a:bodyPr>
          <a:lstStyle/>
          <a:p>
            <a:pPr algn="l"/>
            <a:r>
              <a:rPr sz="1420" b="0">
                <a:solidFill>
                  <a:srgbClr val="EEDEB1"/>
                </a:solidFill>
                <a:latin typeface="Aptos"/>
              </a:rPr>
              <a:t>A definit anti-eroul modern din televiziune</a:t>
            </a:r>
          </a:p>
        </p:txBody>
      </p:sp>
      <p:sp>
        <p:nvSpPr>
          <p:cNvPr id="56" name="Rounded Rectangle 55"/>
          <p:cNvSpPr/>
          <p:nvPr/>
        </p:nvSpPr>
        <p:spPr>
          <a:xfrm>
            <a:off x="2666848" y="2770631"/>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68016" y="2651759"/>
            <a:ext cx="2724912" cy="566928"/>
          </a:xfrm>
          <a:prstGeom prst="rect">
            <a:avLst/>
          </a:prstGeom>
          <a:noFill/>
        </p:spPr>
        <p:txBody>
          <a:bodyPr wrap="square" lIns="36576" rIns="36576" tIns="18288" bIns="18288" anchor="t">
            <a:spAutoFit/>
          </a:bodyPr>
          <a:lstStyle/>
          <a:p>
            <a:pPr algn="l"/>
            <a:r>
              <a:rPr sz="1300" b="0">
                <a:solidFill>
                  <a:srgbClr val="EEDEB1"/>
                </a:solidFill>
                <a:latin typeface="Aptos"/>
              </a:rPr>
              <a:t>A transformat Albuquerque într-o parte a identității serialului</a:t>
            </a:r>
          </a:p>
        </p:txBody>
      </p:sp>
      <p:sp>
        <p:nvSpPr>
          <p:cNvPr id="58" name="Rounded Rectangle 57"/>
          <p:cNvSpPr/>
          <p:nvPr/>
        </p:nvSpPr>
        <p:spPr>
          <a:xfrm>
            <a:off x="2666848" y="3337559"/>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68016" y="3218687"/>
            <a:ext cx="2724912" cy="566928"/>
          </a:xfrm>
          <a:prstGeom prst="rect">
            <a:avLst/>
          </a:prstGeom>
          <a:noFill/>
        </p:spPr>
        <p:txBody>
          <a:bodyPr wrap="square" lIns="36576" rIns="36576" tIns="18288" bIns="18288" anchor="t">
            <a:spAutoFit/>
          </a:bodyPr>
          <a:lstStyle/>
          <a:p>
            <a:pPr algn="l"/>
            <a:r>
              <a:rPr sz="1300" b="0">
                <a:solidFill>
                  <a:srgbClr val="EEDEB1"/>
                </a:solidFill>
                <a:latin typeface="Aptos"/>
              </a:rPr>
              <a:t>A făcut RV-ul, masca și pălăria imposibil de uitat</a:t>
            </a:r>
          </a:p>
        </p:txBody>
      </p:sp>
      <p:sp>
        <p:nvSpPr>
          <p:cNvPr id="60" name="Rounded Rectangle 59"/>
          <p:cNvSpPr/>
          <p:nvPr/>
        </p:nvSpPr>
        <p:spPr>
          <a:xfrm>
            <a:off x="2666848" y="3904487"/>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68016" y="3785615"/>
            <a:ext cx="2724912" cy="566928"/>
          </a:xfrm>
          <a:prstGeom prst="rect">
            <a:avLst/>
          </a:prstGeom>
          <a:noFill/>
        </p:spPr>
        <p:txBody>
          <a:bodyPr wrap="square" lIns="36576" rIns="36576" tIns="18288" bIns="18288" anchor="t">
            <a:spAutoFit/>
          </a:bodyPr>
          <a:lstStyle/>
          <a:p>
            <a:pPr algn="l"/>
            <a:r>
              <a:rPr sz="1300" b="0">
                <a:solidFill>
                  <a:srgbClr val="EEDEB1"/>
                </a:solidFill>
                <a:latin typeface="Aptos"/>
              </a:rPr>
              <a:t>A continuat prin El Camino și Better Call Saul</a:t>
            </a:r>
          </a:p>
        </p:txBody>
      </p:sp>
      <p:sp>
        <p:nvSpPr>
          <p:cNvPr id="62" name="Rounded Rectangle 61"/>
          <p:cNvSpPr/>
          <p:nvPr/>
        </p:nvSpPr>
        <p:spPr>
          <a:xfrm>
            <a:off x="6415887" y="1664208"/>
            <a:ext cx="3429000" cy="3977639"/>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44487" y="1965960"/>
            <a:ext cx="2971800" cy="228600"/>
          </a:xfrm>
          <a:prstGeom prst="rect">
            <a:avLst/>
          </a:prstGeom>
          <a:noFill/>
        </p:spPr>
        <p:txBody>
          <a:bodyPr wrap="square" lIns="36576" rIns="36576" tIns="18288" bIns="18288" anchor="t">
            <a:spAutoFit/>
          </a:bodyPr>
          <a:lstStyle/>
          <a:p>
            <a:pPr algn="ctr"/>
            <a:r>
              <a:rPr sz="1500" b="1">
                <a:solidFill>
                  <a:srgbClr val="C69637"/>
                </a:solidFill>
                <a:latin typeface="Georgia"/>
              </a:rPr>
              <a:t>Atenția a crescut în timp</a:t>
            </a:r>
          </a:p>
        </p:txBody>
      </p:sp>
      <p:sp>
        <p:nvSpPr>
          <p:cNvPr id="64" name="Rectangle 63"/>
          <p:cNvSpPr/>
          <p:nvPr/>
        </p:nvSpPr>
        <p:spPr>
          <a:xfrm>
            <a:off x="6809079" y="4151376"/>
            <a:ext cx="292608" cy="402335"/>
          </a:xfrm>
          <a:prstGeom prst="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90791" y="4700016"/>
            <a:ext cx="329184" cy="137160"/>
          </a:xfrm>
          <a:prstGeom prst="rect">
            <a:avLst/>
          </a:prstGeom>
          <a:noFill/>
        </p:spPr>
        <p:txBody>
          <a:bodyPr wrap="square" lIns="36576" rIns="36576" tIns="18288" bIns="18288" anchor="t">
            <a:spAutoFit/>
          </a:bodyPr>
          <a:lstStyle/>
          <a:p>
            <a:pPr algn="ctr"/>
            <a:r>
              <a:rPr sz="900" b="0">
                <a:solidFill>
                  <a:srgbClr val="D3BE88"/>
                </a:solidFill>
                <a:latin typeface="Aptos"/>
              </a:rPr>
              <a:t>1</a:t>
            </a:r>
          </a:p>
        </p:txBody>
      </p:sp>
      <p:sp>
        <p:nvSpPr>
          <p:cNvPr id="66" name="Rectangle 65"/>
          <p:cNvSpPr/>
          <p:nvPr/>
        </p:nvSpPr>
        <p:spPr>
          <a:xfrm>
            <a:off x="7302855" y="3916680"/>
            <a:ext cx="292608" cy="637032"/>
          </a:xfrm>
          <a:prstGeom prst="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84567" y="4700016"/>
            <a:ext cx="329184" cy="137160"/>
          </a:xfrm>
          <a:prstGeom prst="rect">
            <a:avLst/>
          </a:prstGeom>
          <a:noFill/>
        </p:spPr>
        <p:txBody>
          <a:bodyPr wrap="square" lIns="36576" rIns="36576" tIns="18288" bIns="18288" anchor="t">
            <a:spAutoFit/>
          </a:bodyPr>
          <a:lstStyle/>
          <a:p>
            <a:pPr algn="ctr"/>
            <a:r>
              <a:rPr sz="900" b="0">
                <a:solidFill>
                  <a:srgbClr val="D3BE88"/>
                </a:solidFill>
                <a:latin typeface="Aptos"/>
              </a:rPr>
              <a:t>2</a:t>
            </a:r>
          </a:p>
        </p:txBody>
      </p:sp>
      <p:sp>
        <p:nvSpPr>
          <p:cNvPr id="68" name="Rectangle 67"/>
          <p:cNvSpPr/>
          <p:nvPr/>
        </p:nvSpPr>
        <p:spPr>
          <a:xfrm>
            <a:off x="7796631" y="3681984"/>
            <a:ext cx="292608" cy="871728"/>
          </a:xfrm>
          <a:prstGeom prst="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8343" y="4700016"/>
            <a:ext cx="329184" cy="137160"/>
          </a:xfrm>
          <a:prstGeom prst="rect">
            <a:avLst/>
          </a:prstGeom>
          <a:noFill/>
        </p:spPr>
        <p:txBody>
          <a:bodyPr wrap="square" lIns="36576" rIns="36576" tIns="18288" bIns="18288" anchor="t">
            <a:spAutoFit/>
          </a:bodyPr>
          <a:lstStyle/>
          <a:p>
            <a:pPr algn="ctr"/>
            <a:r>
              <a:rPr sz="900" b="0">
                <a:solidFill>
                  <a:srgbClr val="D3BE88"/>
                </a:solidFill>
                <a:latin typeface="Aptos"/>
              </a:rPr>
              <a:t>3</a:t>
            </a:r>
          </a:p>
        </p:txBody>
      </p:sp>
      <p:sp>
        <p:nvSpPr>
          <p:cNvPr id="70" name="Rectangle 69"/>
          <p:cNvSpPr/>
          <p:nvPr/>
        </p:nvSpPr>
        <p:spPr>
          <a:xfrm>
            <a:off x="8290407" y="3313176"/>
            <a:ext cx="292608" cy="1240536"/>
          </a:xfrm>
          <a:prstGeom prst="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272119" y="4700016"/>
            <a:ext cx="329184" cy="137160"/>
          </a:xfrm>
          <a:prstGeom prst="rect">
            <a:avLst/>
          </a:prstGeom>
          <a:noFill/>
        </p:spPr>
        <p:txBody>
          <a:bodyPr wrap="square" lIns="36576" rIns="36576" tIns="18288" bIns="18288" anchor="t">
            <a:spAutoFit/>
          </a:bodyPr>
          <a:lstStyle/>
          <a:p>
            <a:pPr algn="ctr"/>
            <a:r>
              <a:rPr sz="900" b="0">
                <a:solidFill>
                  <a:srgbClr val="D3BE88"/>
                </a:solidFill>
                <a:latin typeface="Aptos"/>
              </a:rPr>
              <a:t>4</a:t>
            </a:r>
          </a:p>
        </p:txBody>
      </p:sp>
      <p:sp>
        <p:nvSpPr>
          <p:cNvPr id="72" name="Rectangle 71"/>
          <p:cNvSpPr/>
          <p:nvPr/>
        </p:nvSpPr>
        <p:spPr>
          <a:xfrm>
            <a:off x="8784183" y="2542032"/>
            <a:ext cx="292608" cy="2011680"/>
          </a:xfrm>
          <a:prstGeom prst="rect">
            <a:avLst/>
          </a:prstGeom>
          <a:solidFill>
            <a:srgbClr val="12523A"/>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65895" y="4700016"/>
            <a:ext cx="329184" cy="137160"/>
          </a:xfrm>
          <a:prstGeom prst="rect">
            <a:avLst/>
          </a:prstGeom>
          <a:noFill/>
        </p:spPr>
        <p:txBody>
          <a:bodyPr wrap="square" lIns="36576" rIns="36576" tIns="18288" bIns="18288" anchor="t">
            <a:spAutoFit/>
          </a:bodyPr>
          <a:lstStyle/>
          <a:p>
            <a:pPr algn="ctr"/>
            <a:r>
              <a:rPr sz="900" b="0">
                <a:solidFill>
                  <a:srgbClr val="D3BE88"/>
                </a:solidFill>
                <a:latin typeface="Aptos"/>
              </a:rPr>
              <a:t>5</a:t>
            </a:r>
          </a:p>
        </p:txBody>
      </p:sp>
      <p:sp>
        <p:nvSpPr>
          <p:cNvPr id="74" name="TextBox 73"/>
          <p:cNvSpPr txBox="1"/>
          <p:nvPr/>
        </p:nvSpPr>
        <p:spPr>
          <a:xfrm>
            <a:off x="7467447" y="4965192"/>
            <a:ext cx="1143000" cy="155448"/>
          </a:xfrm>
          <a:prstGeom prst="rect">
            <a:avLst/>
          </a:prstGeom>
          <a:noFill/>
        </p:spPr>
        <p:txBody>
          <a:bodyPr wrap="square" lIns="36576" rIns="36576" tIns="18288" bIns="18288" anchor="t">
            <a:spAutoFit/>
          </a:bodyPr>
          <a:lstStyle/>
          <a:p>
            <a:pPr algn="ctr"/>
            <a:r>
              <a:rPr sz="900" b="0">
                <a:solidFill>
                  <a:srgbClr val="D3BE88"/>
                </a:solidFill>
                <a:latin typeface="Aptos"/>
              </a:rPr>
              <a:t>Sezon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A08"/>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11</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OPȚIUNI DE PREZENTARE</a:t>
            </a:r>
          </a:p>
        </p:txBody>
      </p:sp>
      <p:sp>
        <p:nvSpPr>
          <p:cNvPr id="50" name="TextBox 49"/>
          <p:cNvSpPr txBox="1"/>
          <p:nvPr/>
        </p:nvSpPr>
        <p:spPr>
          <a:xfrm>
            <a:off x="1783080" y="841248"/>
            <a:ext cx="8622792" cy="566928"/>
          </a:xfrm>
          <a:prstGeom prst="rect">
            <a:avLst/>
          </a:prstGeom>
          <a:noFill/>
        </p:spPr>
        <p:txBody>
          <a:bodyPr wrap="none" lIns="36576" rIns="36576" tIns="18288" bIns="18288" anchor="t">
            <a:spAutoFit/>
          </a:bodyPr>
          <a:lstStyle/>
          <a:p>
            <a:pPr algn="ctr"/>
            <a:r>
              <a:rPr sz="4200" b="1">
                <a:solidFill>
                  <a:srgbClr val="EEDEB1"/>
                </a:solidFill>
                <a:latin typeface="Georgia"/>
              </a:rPr>
              <a:t>Unghiuri de prezentare</a:t>
            </a:r>
          </a:p>
        </p:txBody>
      </p:sp>
      <p:sp>
        <p:nvSpPr>
          <p:cNvPr id="51" name="Rounded Rectangle 50"/>
          <p:cNvSpPr/>
          <p:nvPr/>
        </p:nvSpPr>
        <p:spPr>
          <a:xfrm>
            <a:off x="2301087" y="1737360"/>
            <a:ext cx="3611880" cy="109728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02255" y="1901952"/>
            <a:ext cx="3209544" cy="256032"/>
          </a:xfrm>
          <a:prstGeom prst="rect">
            <a:avLst/>
          </a:prstGeom>
          <a:noFill/>
        </p:spPr>
        <p:txBody>
          <a:bodyPr wrap="square" lIns="36576" rIns="36576" tIns="18288" bIns="18288" anchor="t">
            <a:spAutoFit/>
          </a:bodyPr>
          <a:lstStyle/>
          <a:p>
            <a:pPr algn="ctr"/>
            <a:r>
              <a:rPr sz="1800" b="1">
                <a:solidFill>
                  <a:srgbClr val="C69637"/>
                </a:solidFill>
                <a:latin typeface="Georgia"/>
              </a:rPr>
              <a:t>Studiu de personaj</a:t>
            </a:r>
          </a:p>
        </p:txBody>
      </p:sp>
      <p:sp>
        <p:nvSpPr>
          <p:cNvPr id="53" name="TextBox 52"/>
          <p:cNvSpPr txBox="1"/>
          <p:nvPr/>
        </p:nvSpPr>
        <p:spPr>
          <a:xfrm>
            <a:off x="2575407" y="2304288"/>
            <a:ext cx="3063240" cy="310896"/>
          </a:xfrm>
          <a:prstGeom prst="rect">
            <a:avLst/>
          </a:prstGeom>
          <a:noFill/>
        </p:spPr>
        <p:txBody>
          <a:bodyPr wrap="square" lIns="36576" rIns="36576" tIns="18288" bIns="18288" anchor="t">
            <a:spAutoFit/>
          </a:bodyPr>
          <a:lstStyle/>
          <a:p>
            <a:pPr algn="ctr"/>
            <a:r>
              <a:rPr sz="1280" b="0">
                <a:solidFill>
                  <a:srgbClr val="EEDEB1"/>
                </a:solidFill>
                <a:latin typeface="Aptos"/>
              </a:rPr>
              <a:t>Transformarea lui Walter și conștiința lui Jesse.</a:t>
            </a:r>
          </a:p>
        </p:txBody>
      </p:sp>
      <p:sp>
        <p:nvSpPr>
          <p:cNvPr id="54" name="Rounded Rectangle 53"/>
          <p:cNvSpPr/>
          <p:nvPr/>
        </p:nvSpPr>
        <p:spPr>
          <a:xfrm>
            <a:off x="6278726" y="1737360"/>
            <a:ext cx="3611880" cy="109728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79894" y="1901952"/>
            <a:ext cx="3209544" cy="256032"/>
          </a:xfrm>
          <a:prstGeom prst="rect">
            <a:avLst/>
          </a:prstGeom>
          <a:noFill/>
        </p:spPr>
        <p:txBody>
          <a:bodyPr wrap="square" lIns="36576" rIns="36576" tIns="18288" bIns="18288" anchor="t">
            <a:spAutoFit/>
          </a:bodyPr>
          <a:lstStyle/>
          <a:p>
            <a:pPr algn="ctr"/>
            <a:r>
              <a:rPr sz="1800" b="1">
                <a:solidFill>
                  <a:srgbClr val="C69637"/>
                </a:solidFill>
                <a:latin typeface="Georgia"/>
              </a:rPr>
              <a:t>Tragedie morală</a:t>
            </a:r>
          </a:p>
        </p:txBody>
      </p:sp>
      <p:sp>
        <p:nvSpPr>
          <p:cNvPr id="56" name="TextBox 55"/>
          <p:cNvSpPr txBox="1"/>
          <p:nvPr/>
        </p:nvSpPr>
        <p:spPr>
          <a:xfrm>
            <a:off x="6553046" y="2304288"/>
            <a:ext cx="3063240" cy="310896"/>
          </a:xfrm>
          <a:prstGeom prst="rect">
            <a:avLst/>
          </a:prstGeom>
          <a:noFill/>
        </p:spPr>
        <p:txBody>
          <a:bodyPr wrap="square" lIns="36576" rIns="36576" tIns="18288" bIns="18288" anchor="t">
            <a:spAutoFit/>
          </a:bodyPr>
          <a:lstStyle/>
          <a:p>
            <a:pPr algn="ctr"/>
            <a:r>
              <a:rPr sz="1280" b="0">
                <a:solidFill>
                  <a:srgbClr val="EEDEB1"/>
                </a:solidFill>
                <a:latin typeface="Aptos"/>
              </a:rPr>
              <a:t>Alegeri, scuze și consecințe.</a:t>
            </a:r>
          </a:p>
        </p:txBody>
      </p:sp>
      <p:sp>
        <p:nvSpPr>
          <p:cNvPr id="57" name="Rounded Rectangle 56"/>
          <p:cNvSpPr/>
          <p:nvPr/>
        </p:nvSpPr>
        <p:spPr>
          <a:xfrm>
            <a:off x="2301087" y="3310128"/>
            <a:ext cx="3611880" cy="109728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02255" y="3474720"/>
            <a:ext cx="3209544" cy="256032"/>
          </a:xfrm>
          <a:prstGeom prst="rect">
            <a:avLst/>
          </a:prstGeom>
          <a:noFill/>
        </p:spPr>
        <p:txBody>
          <a:bodyPr wrap="square" lIns="36576" rIns="36576" tIns="18288" bIns="18288" anchor="t">
            <a:spAutoFit/>
          </a:bodyPr>
          <a:lstStyle/>
          <a:p>
            <a:pPr algn="ctr"/>
            <a:r>
              <a:rPr sz="1800" b="1">
                <a:solidFill>
                  <a:srgbClr val="C69637"/>
                </a:solidFill>
                <a:latin typeface="Georgia"/>
              </a:rPr>
              <a:t>Stil vizual</a:t>
            </a:r>
          </a:p>
        </p:txBody>
      </p:sp>
      <p:sp>
        <p:nvSpPr>
          <p:cNvPr id="59" name="TextBox 58"/>
          <p:cNvSpPr txBox="1"/>
          <p:nvPr/>
        </p:nvSpPr>
        <p:spPr>
          <a:xfrm>
            <a:off x="2575407" y="3877056"/>
            <a:ext cx="3063240" cy="310896"/>
          </a:xfrm>
          <a:prstGeom prst="rect">
            <a:avLst/>
          </a:prstGeom>
          <a:noFill/>
        </p:spPr>
        <p:txBody>
          <a:bodyPr wrap="square" lIns="36576" rIns="36576" tIns="18288" bIns="18288" anchor="t">
            <a:spAutoFit/>
          </a:bodyPr>
          <a:lstStyle/>
          <a:p>
            <a:pPr algn="ctr"/>
            <a:r>
              <a:rPr sz="1280" b="0">
                <a:solidFill>
                  <a:srgbClr val="EEDEB1"/>
                </a:solidFill>
                <a:latin typeface="Aptos"/>
              </a:rPr>
              <a:t>Culori, recuzită, deșert și motive chimice.</a:t>
            </a:r>
          </a:p>
        </p:txBody>
      </p:sp>
      <p:sp>
        <p:nvSpPr>
          <p:cNvPr id="60" name="Rounded Rectangle 59"/>
          <p:cNvSpPr/>
          <p:nvPr/>
        </p:nvSpPr>
        <p:spPr>
          <a:xfrm>
            <a:off x="6278726" y="3310128"/>
            <a:ext cx="3611880" cy="109728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79894" y="3474720"/>
            <a:ext cx="3209544" cy="256032"/>
          </a:xfrm>
          <a:prstGeom prst="rect">
            <a:avLst/>
          </a:prstGeom>
          <a:noFill/>
        </p:spPr>
        <p:txBody>
          <a:bodyPr wrap="square" lIns="36576" rIns="36576" tIns="18288" bIns="18288" anchor="t">
            <a:spAutoFit/>
          </a:bodyPr>
          <a:lstStyle/>
          <a:p>
            <a:pPr algn="ctr"/>
            <a:r>
              <a:rPr sz="1800" b="1">
                <a:solidFill>
                  <a:srgbClr val="C69637"/>
                </a:solidFill>
                <a:latin typeface="Georgia"/>
              </a:rPr>
              <a:t>Impact cultural</a:t>
            </a:r>
          </a:p>
        </p:txBody>
      </p:sp>
      <p:sp>
        <p:nvSpPr>
          <p:cNvPr id="62" name="TextBox 61"/>
          <p:cNvSpPr txBox="1"/>
          <p:nvPr/>
        </p:nvSpPr>
        <p:spPr>
          <a:xfrm>
            <a:off x="6553046" y="3877056"/>
            <a:ext cx="3063240" cy="310896"/>
          </a:xfrm>
          <a:prstGeom prst="rect">
            <a:avLst/>
          </a:prstGeom>
          <a:noFill/>
        </p:spPr>
        <p:txBody>
          <a:bodyPr wrap="square" lIns="36576" rIns="36576" tIns="18288" bIns="18288" anchor="t">
            <a:spAutoFit/>
          </a:bodyPr>
          <a:lstStyle/>
          <a:p>
            <a:pPr algn="ctr"/>
            <a:r>
              <a:rPr sz="1280" b="0">
                <a:solidFill>
                  <a:srgbClr val="EEDEB1"/>
                </a:solidFill>
                <a:latin typeface="Aptos"/>
              </a:rPr>
              <a:t>Cum a influențat serialul televiziunea de prestigiu și spin-off-urile.</a:t>
            </a:r>
          </a:p>
        </p:txBody>
      </p:sp>
      <p:sp>
        <p:nvSpPr>
          <p:cNvPr id="63" name="TextBox 62"/>
          <p:cNvSpPr txBox="1"/>
          <p:nvPr/>
        </p:nvSpPr>
        <p:spPr>
          <a:xfrm>
            <a:off x="2621127" y="5358384"/>
            <a:ext cx="6949440" cy="329184"/>
          </a:xfrm>
          <a:prstGeom prst="rect">
            <a:avLst/>
          </a:prstGeom>
          <a:noFill/>
        </p:spPr>
        <p:txBody>
          <a:bodyPr wrap="square" lIns="36576" rIns="36576" tIns="18288" bIns="18288" anchor="t">
            <a:spAutoFit/>
          </a:bodyPr>
          <a:lstStyle/>
          <a:p>
            <a:pPr algn="ctr"/>
            <a:r>
              <a:rPr sz="1250" b="0">
                <a:solidFill>
                  <a:srgbClr val="D3BE88"/>
                </a:solidFill>
                <a:latin typeface="Aptos"/>
              </a:rPr>
              <a:t>Pentru o prezentare scurtă la clasă, mergi pe Tragedie morală: leagă intriga, personajele și tema într-un argument clar.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00D"/>
        </a:solidFill>
        <a:effectLst/>
      </p:bgPr>
    </p:bg>
    <p:spTree>
      <p:nvGrpSpPr>
        <p:cNvPr id="1" name=""/>
        <p:cNvGrpSpPr/>
        <p:nvPr/>
      </p:nvGrpSpPr>
      <p:grpSpPr/>
      <p:sp>
        <p:nvSpPr>
          <p:cNvPr id="2" name="Rectangle 1"/>
          <p:cNvSpPr/>
          <p:nvPr/>
        </p:nvSpPr>
        <p:spPr>
          <a:xfrm>
            <a:off x="1572768" y="256032"/>
            <a:ext cx="9043416" cy="6291072"/>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72768" y="246888"/>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8249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10312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2374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436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499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6811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8873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998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5060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7123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9185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12480"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33104"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53728"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74352"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94976" y="329184"/>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72768" y="6245352"/>
            <a:ext cx="9043416" cy="310896"/>
          </a:xfrm>
          <a:prstGeom prst="rect">
            <a:avLst/>
          </a:prstGeom>
          <a:solidFill>
            <a:srgbClr val="1610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8249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10312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2374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4436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6499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8561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0624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2686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4748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46811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8873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0936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72998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5060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7123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9185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80"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33104"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53728"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74352"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094976" y="6327648"/>
            <a:ext cx="146304" cy="137160"/>
          </a:xfrm>
          <a:prstGeom prst="roundRect">
            <a:avLst/>
          </a:prstGeom>
          <a:solidFill>
            <a:srgbClr val="D3BE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91056" y="274320"/>
            <a:ext cx="9006840" cy="6254496"/>
          </a:xfrm>
          <a:prstGeom prst="rect">
            <a:avLst/>
          </a:prstGeom>
          <a:solidFill>
            <a:srgbClr val="050504"/>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85832" y="6016752"/>
            <a:ext cx="310896" cy="182880"/>
          </a:xfrm>
          <a:prstGeom prst="rect">
            <a:avLst/>
          </a:prstGeom>
          <a:noFill/>
        </p:spPr>
        <p:txBody>
          <a:bodyPr wrap="square" lIns="36576" rIns="36576" tIns="18288" bIns="18288" anchor="t">
            <a:spAutoFit/>
          </a:bodyPr>
          <a:lstStyle/>
          <a:p>
            <a:pPr algn="r"/>
            <a:r>
              <a:rPr sz="900" b="0">
                <a:solidFill>
                  <a:srgbClr val="D3BE88"/>
                </a:solidFill>
                <a:latin typeface="Aptos"/>
              </a:rPr>
              <a:t>12</a:t>
            </a:r>
          </a:p>
        </p:txBody>
      </p:sp>
      <p:sp>
        <p:nvSpPr>
          <p:cNvPr id="49" name="TextBox 48"/>
          <p:cNvSpPr txBox="1"/>
          <p:nvPr/>
        </p:nvSpPr>
        <p:spPr>
          <a:xfrm>
            <a:off x="4084167" y="530352"/>
            <a:ext cx="4023360" cy="201168"/>
          </a:xfrm>
          <a:prstGeom prst="rect">
            <a:avLst/>
          </a:prstGeom>
          <a:noFill/>
        </p:spPr>
        <p:txBody>
          <a:bodyPr wrap="square" lIns="36576" rIns="36576" tIns="18288" bIns="18288" anchor="t">
            <a:spAutoFit/>
          </a:bodyPr>
          <a:lstStyle/>
          <a:p>
            <a:pPr algn="ctr"/>
            <a:r>
              <a:rPr sz="1000" b="1">
                <a:solidFill>
                  <a:srgbClr val="C69637"/>
                </a:solidFill>
                <a:latin typeface="Aptos"/>
              </a:rPr>
              <a:t>CREDITE</a:t>
            </a:r>
          </a:p>
        </p:txBody>
      </p:sp>
      <p:sp>
        <p:nvSpPr>
          <p:cNvPr id="50" name="TextBox 49"/>
          <p:cNvSpPr txBox="1"/>
          <p:nvPr/>
        </p:nvSpPr>
        <p:spPr>
          <a:xfrm>
            <a:off x="1999335" y="822960"/>
            <a:ext cx="8193024" cy="566928"/>
          </a:xfrm>
          <a:prstGeom prst="rect">
            <a:avLst/>
          </a:prstGeom>
          <a:noFill/>
        </p:spPr>
        <p:txBody>
          <a:bodyPr wrap="square" lIns="36576" rIns="36576" tIns="18288" bIns="18288" anchor="t">
            <a:spAutoFit/>
          </a:bodyPr>
          <a:lstStyle/>
          <a:p>
            <a:pPr algn="ctr"/>
            <a:r>
              <a:rPr sz="3800" b="1">
                <a:solidFill>
                  <a:srgbClr val="EEDEB1"/>
                </a:solidFill>
                <a:latin typeface="Georgia"/>
              </a:rPr>
              <a:t>Surse pentru imagini</a:t>
            </a:r>
          </a:p>
        </p:txBody>
      </p:sp>
      <p:sp>
        <p:nvSpPr>
          <p:cNvPr id="51" name="TextBox 50"/>
          <p:cNvSpPr txBox="1"/>
          <p:nvPr/>
        </p:nvSpPr>
        <p:spPr>
          <a:xfrm>
            <a:off x="2575407" y="1417320"/>
            <a:ext cx="7040880" cy="384048"/>
          </a:xfrm>
          <a:prstGeom prst="rect">
            <a:avLst/>
          </a:prstGeom>
          <a:noFill/>
        </p:spPr>
        <p:txBody>
          <a:bodyPr wrap="square" lIns="36576" rIns="36576" tIns="18288" bIns="18288" anchor="t">
            <a:spAutoFit/>
          </a:bodyPr>
          <a:lstStyle/>
          <a:p>
            <a:pPr algn="ctr"/>
            <a:r>
              <a:rPr sz="1200" b="0">
                <a:solidFill>
                  <a:srgbClr val="D3BE88"/>
                </a:solidFill>
                <a:latin typeface="Aptos"/>
              </a:rPr>
              <a:t>Imaginile provin din pagini web cu licențe sau condiții de utilizare vizibile. Verifică fiecare sursă înainte de folosire publică sau comercială.</a:t>
            </a:r>
          </a:p>
        </p:txBody>
      </p:sp>
      <p:sp>
        <p:nvSpPr>
          <p:cNvPr id="52" name="Rounded Rectangle 51"/>
          <p:cNvSpPr/>
          <p:nvPr/>
        </p:nvSpPr>
        <p:spPr>
          <a:xfrm>
            <a:off x="2392527" y="1920240"/>
            <a:ext cx="7406640" cy="3337560"/>
          </a:xfrm>
          <a:prstGeom prst="roundRect">
            <a:avLst/>
          </a:prstGeom>
          <a:solidFill>
            <a:srgbClr val="16100D"/>
          </a:solidFill>
          <a:ln w="12700">
            <a:solidFill>
              <a:srgbClr val="C69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666847" y="235915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68015" y="2240280"/>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Masca de gaze Breaking Bad - Wikimedia Commons - CC BY-SA 4.0</a:t>
            </a:r>
          </a:p>
        </p:txBody>
      </p:sp>
      <p:sp>
        <p:nvSpPr>
          <p:cNvPr id="55" name="Rounded Rectangle 54"/>
          <p:cNvSpPr/>
          <p:nvPr/>
        </p:nvSpPr>
        <p:spPr>
          <a:xfrm>
            <a:off x="2666847" y="2798064"/>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68015" y="2679192"/>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Fotografie cu distribuția Breaking Bad la PaleyFest 2010 - Wikimedia Commons - CC BY 2.0</a:t>
            </a:r>
          </a:p>
        </p:txBody>
      </p:sp>
      <p:sp>
        <p:nvSpPr>
          <p:cNvPr id="57" name="Rounded Rectangle 56"/>
          <p:cNvSpPr/>
          <p:nvPr/>
        </p:nvSpPr>
        <p:spPr>
          <a:xfrm>
            <a:off x="2666847" y="3236976"/>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68015" y="3118104"/>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Bryan Cranston la PaleyFest 2010 - Wikimedia Commons - CC BY 2.0</a:t>
            </a:r>
          </a:p>
        </p:txBody>
      </p:sp>
      <p:sp>
        <p:nvSpPr>
          <p:cNvPr id="59" name="Rounded Rectangle 58"/>
          <p:cNvSpPr/>
          <p:nvPr/>
        </p:nvSpPr>
        <p:spPr>
          <a:xfrm>
            <a:off x="2666847" y="3675888"/>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68015" y="3557016"/>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Aaron Paul la a 68-a ediție a Peabody Awards - Wikimedia Commons - CC BY 2.0</a:t>
            </a:r>
          </a:p>
        </p:txBody>
      </p:sp>
      <p:sp>
        <p:nvSpPr>
          <p:cNvPr id="61" name="Rounded Rectangle 60"/>
          <p:cNvSpPr/>
          <p:nvPr/>
        </p:nvSpPr>
        <p:spPr>
          <a:xfrm>
            <a:off x="2666847" y="4114800"/>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68015" y="3995928"/>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Orizontul orașului Albuquerque - PerryPlanet, Wikimedia Commons - Domeniu public</a:t>
            </a:r>
          </a:p>
        </p:txBody>
      </p:sp>
      <p:sp>
        <p:nvSpPr>
          <p:cNvPr id="63" name="Rounded Rectangle 62"/>
          <p:cNvSpPr/>
          <p:nvPr/>
        </p:nvSpPr>
        <p:spPr>
          <a:xfrm>
            <a:off x="2666847" y="4553712"/>
            <a:ext cx="73152" cy="73152"/>
          </a:xfrm>
          <a:prstGeom prst="roundRect">
            <a:avLst/>
          </a:prstGeom>
          <a:solidFill>
            <a:srgbClr val="C69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68015" y="4434840"/>
            <a:ext cx="6656832" cy="438912"/>
          </a:xfrm>
          <a:prstGeom prst="rect">
            <a:avLst/>
          </a:prstGeom>
          <a:noFill/>
        </p:spPr>
        <p:txBody>
          <a:bodyPr wrap="square" lIns="36576" rIns="36576" tIns="18288" bIns="18288" anchor="t">
            <a:spAutoFit/>
          </a:bodyPr>
          <a:lstStyle/>
          <a:p>
            <a:pPr algn="l"/>
            <a:r>
              <a:rPr sz="1200" b="0">
                <a:solidFill>
                  <a:srgbClr val="EEDEB1"/>
                </a:solidFill>
                <a:latin typeface="Aptos"/>
              </a:rPr>
              <a:t>Pajiște deșertică în sudul New Mexico - Miguel Villarreal, USGS - Domeniu public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